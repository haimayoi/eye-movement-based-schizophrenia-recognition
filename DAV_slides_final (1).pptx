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43"/>
  </p:notesMasterIdLst>
  <p:handoutMasterIdLst>
    <p:handoutMasterId r:id="rId44"/>
  </p:handoutMasterIdLst>
  <p:sldIdLst>
    <p:sldId id="256" r:id="rId2"/>
    <p:sldId id="257" r:id="rId3"/>
    <p:sldId id="316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313" r:id="rId18"/>
    <p:sldId id="291" r:id="rId19"/>
    <p:sldId id="314" r:id="rId20"/>
    <p:sldId id="292" r:id="rId21"/>
    <p:sldId id="293" r:id="rId22"/>
    <p:sldId id="315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312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76FF67-F439-F30F-6651-0F73211ACEA6}" v="71" dt="2026-06-30T01:36:33.345"/>
    <p1510:client id="{C3F19285-5C64-DB2B-AA0B-EBE785F8F063}" v="2152" dt="2026-06-30T01:22:35.3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>
        <p:scale>
          <a:sx n="75" d="100"/>
          <a:sy n="75" d="100"/>
        </p:scale>
        <p:origin x="1485" y="-1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7/3/2026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7/3/2026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7/3/2026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7/3/2026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7/3/2026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457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9Slide.vn - 2019">
            <a:extLst>
              <a:ext uri="{FF2B5EF4-FFF2-40B4-BE49-F238E27FC236}">
                <a16:creationId xmlns:a16="http://schemas.microsoft.com/office/drawing/2014/main" id="{9AF342BA-0A26-614E-98FE-0770F94B3001}"/>
              </a:ext>
            </a:extLst>
          </p:cNvPr>
          <p:cNvSpPr txBox="1"/>
          <p:nvPr userDrawn="1"/>
        </p:nvSpPr>
        <p:spPr>
          <a:xfrm>
            <a:off x="0" y="-712232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800">
                <a:solidFill>
                  <a:srgbClr val="CFCFCF"/>
                </a:solidFill>
              </a:rPr>
              <a:t>www.9slide.vn</a:t>
            </a:r>
          </a:p>
        </p:txBody>
      </p:sp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  <p:sldLayoutId id="214748368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3"/>
          <p:cNvPicPr/>
          <p:nvPr/>
        </p:nvPicPr>
        <p:blipFill>
          <a:blip r:embed="rId2"/>
          <a:stretch/>
        </p:blipFill>
        <p:spPr>
          <a:xfrm>
            <a:off x="412920" y="398520"/>
            <a:ext cx="2036880" cy="611280"/>
          </a:xfrm>
          <a:prstGeom prst="rect">
            <a:avLst/>
          </a:prstGeom>
          <a:ln w="0">
            <a:noFill/>
          </a:ln>
        </p:spPr>
      </p:pic>
      <p:sp>
        <p:nvSpPr>
          <p:cNvPr id="61" name="Title 6"/>
          <p:cNvSpPr/>
          <p:nvPr/>
        </p:nvSpPr>
        <p:spPr>
          <a:xfrm>
            <a:off x="416379" y="1621102"/>
            <a:ext cx="7409951" cy="18054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800" b="1" spc="-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Hierarchical Multi-Stream Learning for</a:t>
            </a:r>
            <a:br>
              <a:rPr lang="en-US" sz="2800" b="1" spc="-1">
                <a:solidFill>
                  <a:srgbClr val="FF0000"/>
                </a:solidFill>
                <a:latin typeface="Calibri"/>
                <a:ea typeface="Calibri"/>
                <a:cs typeface="Calibri"/>
              </a:rPr>
            </a:br>
            <a:r>
              <a:rPr lang="en-US" sz="2800" b="1" strike="noStrike" spc="-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Eye Movement-Based Schizophrenia Recognition</a:t>
            </a:r>
            <a:r>
              <a:rPr lang="en-US" sz="2800" b="1" spc="-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:</a:t>
            </a:r>
            <a:br>
              <a:rPr lang="en-US" sz="2200" b="1" spc="-1">
                <a:solidFill>
                  <a:srgbClr val="FF0000"/>
                </a:solidFill>
                <a:latin typeface="Calibri"/>
                <a:ea typeface="Calibri"/>
                <a:cs typeface="Calibri"/>
              </a:rPr>
            </a:br>
            <a:r>
              <a:rPr lang="en-US" sz="2200" b="1" spc="-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From Handcrafted Features to</a:t>
            </a:r>
            <a:br>
              <a:rPr lang="en-US" sz="2200" b="1" spc="-1">
                <a:solidFill>
                  <a:srgbClr val="FF0000"/>
                </a:solidFill>
                <a:latin typeface="Calibri"/>
                <a:ea typeface="Calibri"/>
                <a:cs typeface="Calibri"/>
              </a:rPr>
            </a:br>
            <a:r>
              <a:rPr lang="en-US" sz="2200" b="1" spc="-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Bidirectional Graph-Transformer Ensembles</a:t>
            </a:r>
            <a:endParaRPr lang="en-US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62" name="Title 6"/>
          <p:cNvSpPr/>
          <p:nvPr/>
        </p:nvSpPr>
        <p:spPr>
          <a:xfrm>
            <a:off x="416379" y="3087914"/>
            <a:ext cx="7833914" cy="242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endParaRPr lang="en-US" spc="-1">
              <a:solidFill>
                <a:srgbClr val="FF0000"/>
              </a:solidFill>
              <a:latin typeface="Lato"/>
              <a:ea typeface="Lato"/>
              <a:cs typeface="Lato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pc="-1">
                <a:solidFill>
                  <a:srgbClr val="FF0000"/>
                </a:solidFill>
                <a:latin typeface="Lato"/>
                <a:ea typeface="Lato"/>
              </a:rPr>
              <a:t>Team</a:t>
            </a:r>
            <a:r>
              <a:rPr lang="en-US" spc="-1">
                <a:solidFill>
                  <a:srgbClr val="FF0000"/>
                </a:solidFill>
                <a:latin typeface="Lato"/>
                <a:ea typeface="Lato"/>
                <a:cs typeface="Lato"/>
              </a:rPr>
              <a:t> 13 : - Phạm Minh Tuyên - 20233885</a:t>
            </a: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pc="-1">
                <a:solidFill>
                  <a:srgbClr val="FF0000"/>
                </a:solidFill>
                <a:latin typeface="Lato"/>
                <a:ea typeface="Lato"/>
                <a:cs typeface="Lato"/>
              </a:rPr>
              <a:t>              - Lê Hà Hải Vân - 20233886</a:t>
            </a: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pc="-1">
                <a:solidFill>
                  <a:srgbClr val="FF0000"/>
                </a:solidFill>
                <a:latin typeface="Lato"/>
                <a:ea typeface="Lato"/>
                <a:cs typeface="Lato"/>
              </a:rPr>
              <a:t>                  - Bùi Hoàng Giang – 20224307</a:t>
            </a:r>
          </a:p>
          <a:p>
            <a:r>
              <a:rPr lang="en-US" b="1" spc="-1">
                <a:solidFill>
                  <a:srgbClr val="FF0000"/>
                </a:solidFill>
                <a:latin typeface="Lato"/>
                <a:ea typeface="Lato"/>
                <a:cs typeface="Lato"/>
              </a:rPr>
              <a:t>Advisor</a:t>
            </a:r>
            <a:r>
              <a:rPr lang="en-US" spc="-1">
                <a:solidFill>
                  <a:srgbClr val="FF0000"/>
                </a:solidFill>
                <a:latin typeface="Lato"/>
                <a:ea typeface="Lato"/>
                <a:cs typeface="Lato"/>
              </a:rPr>
              <a:t>: PGS. TS. Trần Th Thanh Hải | </a:t>
            </a:r>
            <a:r>
              <a:rPr lang="en-US" b="1" spc="-1">
                <a:solidFill>
                  <a:srgbClr val="FF0000"/>
                </a:solidFill>
                <a:latin typeface="Lato"/>
                <a:ea typeface="Lato"/>
                <a:cs typeface="Lato"/>
              </a:rPr>
              <a:t>TA</a:t>
            </a:r>
            <a:r>
              <a:rPr lang="en-US" spc="-1">
                <a:solidFill>
                  <a:srgbClr val="FF0000"/>
                </a:solidFill>
                <a:latin typeface="Lato"/>
                <a:ea typeface="Lato"/>
                <a:cs typeface="Lato"/>
              </a:rPr>
              <a:t>: </a:t>
            </a:r>
            <a:r>
              <a:rPr lang="en-US" spc="-1" err="1">
                <a:solidFill>
                  <a:srgbClr val="FF0000"/>
                </a:solidFill>
                <a:latin typeface="Lato"/>
                <a:ea typeface="Lato"/>
                <a:cs typeface="Lato"/>
              </a:rPr>
              <a:t>ThS</a:t>
            </a:r>
            <a:r>
              <a:rPr lang="en-US" spc="-1">
                <a:solidFill>
                  <a:srgbClr val="FF0000"/>
                </a:solidFill>
                <a:latin typeface="Lato"/>
                <a:ea typeface="Lato"/>
                <a:cs typeface="Lato"/>
              </a:rPr>
              <a:t>. Bùi </a:t>
            </a:r>
            <a:r>
              <a:rPr lang="en-US" spc="-1" err="1">
                <a:solidFill>
                  <a:srgbClr val="FF0000"/>
                </a:solidFill>
                <a:latin typeface="Lato"/>
                <a:ea typeface="Lato"/>
                <a:cs typeface="Lato"/>
              </a:rPr>
              <a:t>Hạnh</a:t>
            </a:r>
            <a:r>
              <a:rPr lang="en-US" spc="-1">
                <a:solidFill>
                  <a:srgbClr val="FF0000"/>
                </a:solidFill>
                <a:latin typeface="Lato"/>
                <a:ea typeface="Lato"/>
                <a:cs typeface="Lato"/>
              </a:rPr>
              <a:t> Trang</a:t>
            </a:r>
            <a:endParaRPr lang="en-US">
              <a:solidFill>
                <a:srgbClr val="FF0000"/>
              </a:solidFill>
              <a:latin typeface="Lato"/>
              <a:ea typeface="Lato"/>
              <a:cs typeface="Lato"/>
            </a:endParaRPr>
          </a:p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endParaRPr lang="en-US" spc="-1">
              <a:solidFill>
                <a:srgbClr val="FF0000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D49909-9D7A-7D45-B45B-9EED0E84475F}"/>
              </a:ext>
            </a:extLst>
          </p:cNvPr>
          <p:cNvSpPr txBox="1"/>
          <p:nvPr/>
        </p:nvSpPr>
        <p:spPr>
          <a:xfrm>
            <a:off x="228600" y="73152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sz="2000" b="1" i="0">
                <a:solidFill>
                  <a:srgbClr val="FFFFFF"/>
                </a:solidFill>
              </a:rPr>
              <a:t>Work contribution table</a:t>
            </a:r>
            <a:endParaRPr sz="2000" b="1" i="0">
              <a:solidFill>
                <a:srgbClr val="FFFFFF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6F4FD9A-14DC-019E-E8A0-7B4BAF569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131501"/>
              </p:ext>
            </p:extLst>
          </p:nvPr>
        </p:nvGraphicFramePr>
        <p:xfrm>
          <a:off x="266700" y="838200"/>
          <a:ext cx="8610600" cy="5356063"/>
        </p:xfrm>
        <a:graphic>
          <a:graphicData uri="http://schemas.openxmlformats.org/drawingml/2006/table">
            <a:tbl>
              <a:tblPr/>
              <a:tblGrid>
                <a:gridCol w="2870200">
                  <a:extLst>
                    <a:ext uri="{9D8B030D-6E8A-4147-A177-3AD203B41FA5}">
                      <a16:colId xmlns:a16="http://schemas.microsoft.com/office/drawing/2014/main" val="2758237402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3216901193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3553817715"/>
                    </a:ext>
                  </a:extLst>
                </a:gridCol>
              </a:tblGrid>
              <a:tr h="15926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1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Phase / Section</a:t>
                      </a:r>
                      <a:endParaRPr lang="en-US" sz="1000" b="0" i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1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Task Name</a:t>
                      </a:r>
                      <a:endParaRPr lang="en-US" sz="1000" b="0" i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Lead Members</a:t>
                      </a:r>
                      <a:endParaRPr lang="en-US" sz="1000" b="0" i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887537"/>
                  </a:ext>
                </a:extLst>
              </a:tr>
              <a:tr h="262787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1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Phase 1: Idea &amp; Review</a:t>
                      </a:r>
                      <a:endParaRPr lang="en-US" sz="1000" b="0" i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Literature Review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Ha-Hai-Van Le</a:t>
                      </a:r>
                      <a:b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Minh-Tuyen Pham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693892"/>
                  </a:ext>
                </a:extLst>
              </a:tr>
              <a:tr h="262787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sz="1000" b="0" i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Proposed Architecture Design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Ha-Hai-Van Le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057434"/>
                  </a:ext>
                </a:extLst>
              </a:tr>
              <a:tr h="262787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1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Phase 2: Preprocessing</a:t>
                      </a:r>
                      <a:endParaRPr lang="en-US" sz="1000" b="0" i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Preprocessing Pipeline Setup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Minh-Tuyen Pham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384354"/>
                  </a:ext>
                </a:extLst>
              </a:tr>
              <a:tr h="262787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sz="1000" b="0" i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Gaze Distribution Statistics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Minh-Tuyen Pham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53579"/>
                  </a:ext>
                </a:extLst>
              </a:tr>
              <a:tr h="262787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1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Phase 3: Feature Eng.</a:t>
                      </a:r>
                      <a:endParaRPr lang="en-US" sz="1000" b="0" i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Stimulus-Level Feature Extraction (Tier 2A)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Ha-Hai-Van Le</a:t>
                      </a:r>
                      <a:b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Minh-Tuyen Pham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958760"/>
                  </a:ext>
                </a:extLst>
              </a:tr>
              <a:tr h="262787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sz="1000" b="0" i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Delta Feature Design (Tier 2B)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Ha-Hai-Van Le</a:t>
                      </a:r>
                      <a:b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Minh-Tuyen Pham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375770"/>
                  </a:ext>
                </a:extLst>
              </a:tr>
              <a:tr h="262787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1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Phase 4: Tabular Models</a:t>
                      </a:r>
                      <a:endParaRPr lang="en-US" sz="1000" b="0" i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GBDT Model Training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Ha-Hai-Van Le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215198"/>
                  </a:ext>
                </a:extLst>
              </a:tr>
              <a:tr h="262787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sz="1000" b="0" i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SHAP Explainability Analysis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Ha-Hai-Van Le</a:t>
                      </a:r>
                      <a:b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Minh-Tuyen Pham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211544"/>
                  </a:ext>
                </a:extLst>
              </a:tr>
              <a:tr h="262787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1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Phase 5: Deep Models</a:t>
                      </a:r>
                      <a:endParaRPr lang="en-US" sz="1000" b="0" i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GNN-CEFAM Pipeline (Tier 4A)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Ha-Hai-Van Le</a:t>
                      </a:r>
                      <a:b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Minh-Tuyen Pham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717619"/>
                  </a:ext>
                </a:extLst>
              </a:tr>
              <a:tr h="262787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sz="1000" b="0" i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BiCA-HS Pipeline (Tier 4B)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Ha-Hai-Van Le</a:t>
                      </a:r>
                      <a:b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Minh-Tuyen Pham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923711"/>
                  </a:ext>
                </a:extLst>
              </a:tr>
              <a:tr h="262787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sz="1000" b="0" i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Parameter Sweep &amp; Experiments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Ha-Hai-Van Le</a:t>
                      </a:r>
                      <a:b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Minh-Tuyen Pham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954150"/>
                  </a:ext>
                </a:extLst>
              </a:tr>
              <a:tr h="262787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1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Phase 6: Meta-Learner</a:t>
                      </a:r>
                      <a:endParaRPr lang="en-US" sz="1000" b="0" i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Meta-Learner Construction (Tier 5)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Ha-Hai-Van Le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103063"/>
                  </a:ext>
                </a:extLst>
              </a:tr>
              <a:tr h="262787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sz="1000" b="0" i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Mathematical Analysis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Ha-Hai-Van Le</a:t>
                      </a:r>
                      <a:b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Minh-Tuyen Pham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67061"/>
                  </a:ext>
                </a:extLst>
              </a:tr>
              <a:tr h="262787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1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Phase 7: Drafting &amp; Slides</a:t>
                      </a:r>
                      <a:endParaRPr lang="en-US" sz="1000" b="0" i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Paper Drafting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Ha-Hai-Van Le</a:t>
                      </a:r>
                      <a:b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Minh-Tuyen Pham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954268"/>
                  </a:ext>
                </a:extLst>
              </a:tr>
              <a:tr h="262787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sz="1000" b="0" i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Review Revisions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Ha-Hai-Van Le</a:t>
                      </a:r>
                      <a:b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Minh-Tuyen Pham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460292"/>
                  </a:ext>
                </a:extLst>
              </a:tr>
              <a:tr h="15926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sz="1000" b="0" i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Slides Preparation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i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Hoang-Giang Bui</a:t>
                      </a:r>
                    </a:p>
                  </a:txBody>
                  <a:tcPr marL="57443" marR="57443" marT="28722" marB="28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255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933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8600" y="7315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36576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79552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813816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36576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29844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316736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Related Works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36576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80136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819656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Data Construction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86000"/>
            <a:ext cx="36576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30428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322576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Proposed Method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88920"/>
            <a:ext cx="36576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280720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825496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Experimental Results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91839"/>
            <a:ext cx="36576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310127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328415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Conclusion &amp; Future 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94759"/>
            <a:ext cx="36576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3813047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831335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References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611880"/>
            <a:ext cx="27432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Schizophrenia * Eye Tracking * Motivation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45292" y="949235"/>
            <a:ext cx="4167777" cy="2746103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Rectangle 8"/>
          <p:cNvSpPr/>
          <p:nvPr/>
        </p:nvSpPr>
        <p:spPr>
          <a:xfrm>
            <a:off x="4730931" y="941977"/>
            <a:ext cx="3979092" cy="3798389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Introduction -- Schizophrenia &amp; Eye Movement Biomarkers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35301"/>
            <a:ext cx="3886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</a:rPr>
              <a:t>What is Schizophrenia?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37637"/>
            <a:ext cx="3886200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</a:rPr>
              <a:t>Severe neuropsychiatric disorder affecting ~1% of the global population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</a:rPr>
              <a:t>Characterized by deficits in: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</a:rPr>
              <a:t>      - Cognitive control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</a:rPr>
              <a:t>      - Social cognition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</a:rPr>
              <a:t>      - Visual attention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</a:rPr>
              <a:t>Clinical diagnosis remains largely qualitative &amp; subject to inter-rater variability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</a:rPr>
              <a:t>Need for objective, quantifiable biomarkers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935301"/>
            <a:ext cx="3886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080"/>
                </a:solidFill>
              </a:rPr>
              <a:t>Why Eye Movements?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8091" y="1315866"/>
            <a:ext cx="3820887" cy="345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</a:rPr>
              <a:t>Atypical eye movements are among the most replicated neurobiological markers of schizophrenia (Holzman et al., 1973)</a:t>
            </a:r>
          </a:p>
          <a:p>
            <a:pPr algn="l">
              <a:spcAft>
                <a:spcPts val="300"/>
              </a:spcAft>
            </a:pPr>
            <a:endParaRPr sz="1400" b="0" i="0">
              <a:solidFill>
                <a:srgbClr val="000000"/>
              </a:solidFill>
            </a:endParaRP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</a:rPr>
              <a:t>SZ patients exhibit: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</a:rPr>
              <a:t>      - Restricted visual exploration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</a:rPr>
              <a:t>      - Social gaze avoidance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</a:rPr>
              <a:t>      - Abnormal saccadic dynamics</a:t>
            </a:r>
          </a:p>
          <a:p>
            <a:pPr algn="l">
              <a:spcAft>
                <a:spcPts val="300"/>
              </a:spcAft>
            </a:pPr>
            <a:endParaRPr sz="1400" b="0" i="0">
              <a:solidFill>
                <a:srgbClr val="000000"/>
              </a:solidFill>
            </a:endParaRP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</a:rPr>
              <a:t>Free-viewing tests: non-invasive, low-cost, clinically actionable</a:t>
            </a:r>
          </a:p>
          <a:p>
            <a:pPr algn="l">
              <a:spcAft>
                <a:spcPts val="300"/>
              </a:spcAft>
            </a:pPr>
            <a:endParaRPr sz="1400" b="0" i="0">
              <a:solidFill>
                <a:srgbClr val="000000"/>
              </a:solidFill>
            </a:endParaRP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</a:rPr>
              <a:t>EyeLink 1000 Plus @ 1000 Hz captures precise fixation sequences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Introduction -- Limitations &amp; Research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41977"/>
            <a:ext cx="50292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b="1" i="0">
                <a:solidFill>
                  <a:srgbClr val="C00000"/>
                </a:solidFill>
              </a:rPr>
              <a:t>Current Limitations</a:t>
            </a:r>
            <a:endParaRPr lang="en-US" b="1" i="0">
              <a:solidFill>
                <a:srgbClr val="C00000"/>
              </a:solidFill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3978" y="1267967"/>
            <a:ext cx="8178799" cy="11079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</a:rPr>
              <a:t>Handcrafted methods: discard spatiotemporal </a:t>
            </a:r>
            <a:r>
              <a:rPr lang="en-US" sz="1400">
                <a:solidFill>
                  <a:srgbClr val="000000"/>
                </a:solidFill>
              </a:rPr>
              <a:t>structure </a:t>
            </a:r>
            <a:endParaRPr lang="en-US">
              <a:solidFill>
                <a:srgbClr val="000000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400">
                <a:solidFill>
                  <a:srgbClr val="000000"/>
                </a:solidFill>
              </a:rPr>
              <a:t>CNN</a:t>
            </a:r>
            <a:r>
              <a:rPr sz="1400" b="0" i="0">
                <a:solidFill>
                  <a:srgbClr val="000000"/>
                </a:solidFill>
              </a:rPr>
              <a:t>/density-map models: collapse temporal ordering</a:t>
            </a:r>
            <a:endParaRPr lang="en-US">
              <a:ea typeface="Calibri"/>
              <a:cs typeface="Calibri"/>
            </a:endParaRP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</a:rPr>
              <a:t>No integration of clinical biomarkers + deep </a:t>
            </a:r>
            <a:r>
              <a:rPr lang="en-US" sz="1400">
                <a:solidFill>
                  <a:srgbClr val="000000"/>
                </a:solidFill>
              </a:rPr>
              <a:t>learning </a:t>
            </a:r>
            <a:endParaRPr lang="en-US" sz="1400">
              <a:solidFill>
                <a:srgbClr val="000000"/>
              </a:solidFill>
              <a:ea typeface="Calibri"/>
              <a:cs typeface="Calibri"/>
            </a:endParaRPr>
          </a:p>
          <a:p>
            <a:pPr algn="l">
              <a:spcAft>
                <a:spcPts val="400"/>
              </a:spcAft>
            </a:pPr>
            <a:r>
              <a:rPr lang="en-US" sz="1400">
                <a:solidFill>
                  <a:srgbClr val="000000"/>
                </a:solidFill>
              </a:rPr>
              <a:t>Existing</a:t>
            </a:r>
            <a:r>
              <a:rPr sz="1400" b="0" i="0">
                <a:solidFill>
                  <a:srgbClr val="000000"/>
                </a:solidFill>
              </a:rPr>
              <a:t> SOTA (</a:t>
            </a:r>
            <a:r>
              <a:rPr sz="1400" b="0" i="0" err="1">
                <a:solidFill>
                  <a:srgbClr val="000000"/>
                </a:solidFill>
              </a:rPr>
              <a:t>MSNet</a:t>
            </a:r>
            <a:r>
              <a:rPr sz="1400" b="0" i="0">
                <a:solidFill>
                  <a:srgbClr val="000000"/>
                </a:solidFill>
              </a:rPr>
              <a:t>): AUC = 0.8854</a:t>
            </a:r>
            <a:endParaRPr sz="1400" b="0" i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859536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2944368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7A"/>
                </a:solidFill>
              </a:rPr>
              <a:t>Research Questions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383280"/>
            <a:ext cx="8595360" cy="7315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3383280"/>
            <a:ext cx="777240" cy="7315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3547872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493008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</a:rPr>
              <a:t>Are handcrafted clinical features (135-dim expert vector) sufficiently discriminative to separate SZ from HC?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06240"/>
            <a:ext cx="8595360" cy="731520"/>
          </a:xfrm>
          <a:prstGeom prst="rect">
            <a:avLst/>
          </a:prstGeom>
          <a:solidFill>
            <a:srgbClr val="E0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4206240"/>
            <a:ext cx="777240" cy="731520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4370832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15968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</a:rPr>
              <a:t>Does graph-based spatiotemporal modeling (GNN + cross-attention) improve over tabular baselines?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029200"/>
            <a:ext cx="8595360" cy="7315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5029200"/>
            <a:ext cx="777240" cy="7315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5193792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138928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</a:rPr>
              <a:t>Can a hybrid Graph-Transformer ensemble with meta-learning surpass the published MSNet SOTA?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989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Our Contributions: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27069" y="5974806"/>
            <a:ext cx="67186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(1) 135-dim expert vector with 60 delta features  *  (2) GNN-CEFAM with genuine cross-attention  *  (3) BiCA-HS Transformer-expert fusion  *  (4) Tier 5 meta-learner ensemble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Related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611880"/>
            <a:ext cx="27432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Prior Art * Limitations * Our Gap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Related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343" y="959975"/>
            <a:ext cx="1325880" cy="347472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7234" y="978263"/>
            <a:ext cx="29543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Method / Paper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592943" y="959975"/>
            <a:ext cx="2971800" cy="347472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38663" y="978263"/>
            <a:ext cx="288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0463" y="959975"/>
            <a:ext cx="2240280" cy="347472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56183" y="978263"/>
            <a:ext cx="2148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Strength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96463" y="959975"/>
            <a:ext cx="2057400" cy="347472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42183" y="978263"/>
            <a:ext cx="1965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Limitation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1343" y="1344023"/>
            <a:ext cx="1325880" cy="566928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7063" y="1380599"/>
            <a:ext cx="1234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Spigelman et al. (2008)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92943" y="1344023"/>
            <a:ext cx="2971800" cy="566928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38663" y="1380599"/>
            <a:ext cx="288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SVM on scanpath statistics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0463" y="1344023"/>
            <a:ext cx="2240280" cy="566928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56183" y="1380599"/>
            <a:ext cx="2148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Simple, interpretable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96463" y="1344023"/>
            <a:ext cx="2057400" cy="566928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42183" y="1380599"/>
            <a:ext cx="1965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Loses spatiotemporal 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1343" y="1947527"/>
            <a:ext cx="13258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7063" y="1984103"/>
            <a:ext cx="1234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Huang et al. (2020)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92943" y="1947527"/>
            <a:ext cx="2971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38663" y="1984103"/>
            <a:ext cx="2880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Discriminative eye-movement features + model-metric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0463" y="1947527"/>
            <a:ext cx="2240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56183" y="1984103"/>
            <a:ext cx="2148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Rich handcrafted features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96463" y="1947527"/>
            <a:ext cx="2057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42183" y="1984103"/>
            <a:ext cx="1965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No sequence/graph modeling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1343" y="2551031"/>
            <a:ext cx="1325880" cy="566928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67063" y="2587607"/>
            <a:ext cx="1234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Tseng et al. (2013)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92943" y="2551031"/>
            <a:ext cx="2971800" cy="566928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638663" y="2587607"/>
            <a:ext cx="288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Multi-population classifier on gaze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10463" y="2551031"/>
            <a:ext cx="2240280" cy="566928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656183" y="2587607"/>
            <a:ext cx="2148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High-throughput classification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96463" y="2551031"/>
            <a:ext cx="2057400" cy="566928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42183" y="2587607"/>
            <a:ext cx="1965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Static aggregation, no temporal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176306"/>
            <a:ext cx="1325880" cy="770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67063" y="3191111"/>
            <a:ext cx="12344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Birawo &amp; Kasprowski (2024)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71172" y="3169049"/>
            <a:ext cx="2979057" cy="770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638663" y="3191111"/>
            <a:ext cx="288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Graph attention on scanpath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17720" y="3161792"/>
            <a:ext cx="2240280" cy="770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656183" y="3191111"/>
            <a:ext cx="2148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Models spatial topology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89206" y="3161792"/>
            <a:ext cx="2035629" cy="7773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942183" y="3191111"/>
            <a:ext cx="1965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No clinical biomarker integration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2143" y="4041067"/>
            <a:ext cx="1282338" cy="945461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0606" y="4055872"/>
            <a:ext cx="12344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Song et al. (2025)
[SOTA -- MSNet]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58257" y="4033810"/>
            <a:ext cx="2964543" cy="94546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682206" y="4055872"/>
            <a:ext cx="2880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Multi-scale CNN on gaze density maps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39492" y="4026553"/>
            <a:ext cx="2247537" cy="94546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699726" y="4055872"/>
            <a:ext cx="2148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AUC = 0.8854 (published)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0006" y="4019296"/>
            <a:ext cx="2057400" cy="713232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942184" y="4048615"/>
            <a:ext cx="206755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Collapses temporal order; no fixation-level interpretability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1343" y="5095966"/>
            <a:ext cx="86868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67063" y="5205694"/>
            <a:ext cx="8595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0000"/>
                </a:solidFill>
                <a:latin typeface="Times New Roman"/>
                <a:cs typeface="Times New Roman"/>
              </a:rPr>
              <a:t>Gap: No prior work jointly integrates handcrafted clinical biomarkers, graph topology, and Transformer sequence modeling in a principled ensemble.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Data Construction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611880"/>
            <a:ext cx="27432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Dataset * Preprocessing * Feature Engineering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Data Construction -- EMS Dataset &amp; Preprocessing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843860"/>
            <a:ext cx="4119156" cy="4905829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3931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Times New Roman"/>
                <a:cs typeface="Times New Roman"/>
              </a:rPr>
              <a:t>EMS Dataset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105156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" y="1207008"/>
            <a:ext cx="1051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208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234440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Total Subjects (104 SZ + 104 HC)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27632"/>
            <a:ext cx="105156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040" y="1664208"/>
            <a:ext cx="1051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1000 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691640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EyeLink 1000 Plus sampling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084832"/>
            <a:ext cx="105156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040" y="2121408"/>
            <a:ext cx="1051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148840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Naturalistic stimuli per subject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542032"/>
            <a:ext cx="105156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0040" y="2578608"/>
            <a:ext cx="1051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606040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Stimulus categories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999232"/>
            <a:ext cx="105156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0040" y="3035808"/>
            <a:ext cx="1051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293,740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063240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Raw fixations collected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456432"/>
            <a:ext cx="105156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0040" y="3493008"/>
            <a:ext cx="1051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281,037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520440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Clean fixations after filtering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913632"/>
            <a:ext cx="105156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0040" y="3950208"/>
            <a:ext cx="1051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160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977640"/>
            <a:ext cx="2834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Labeled subjects for training (80 SZ / 80 HC)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370832"/>
            <a:ext cx="105156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0040" y="4407408"/>
            <a:ext cx="1051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48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434840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Held-out blind test subjects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937760"/>
            <a:ext cx="3931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  <a:latin typeface="Times New Roman"/>
                <a:cs typeface="Times New Roman"/>
              </a:rPr>
              <a:t>Stimulus Categories: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257800"/>
            <a:ext cx="886968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93192" y="5276088"/>
            <a:ext cx="8321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Social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44168" y="5257800"/>
            <a:ext cx="886968" cy="256032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371600" y="5276088"/>
            <a:ext cx="8321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Natural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22576" y="5257800"/>
            <a:ext cx="886968" cy="256032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350008" y="5276088"/>
            <a:ext cx="8321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Synthetic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00984" y="5257800"/>
            <a:ext cx="886968" cy="256032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328416" y="5276088"/>
            <a:ext cx="8321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Manipulated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88692" y="822090"/>
            <a:ext cx="4319451" cy="491308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754880" y="786384"/>
            <a:ext cx="402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4080"/>
                </a:solidFill>
                <a:latin typeface="Times New Roman"/>
                <a:cs typeface="Times New Roman"/>
              </a:rPr>
              <a:t>Preprocessing Pipeline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09160" y="1170432"/>
            <a:ext cx="4069080" cy="29260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800600" y="1207008"/>
            <a:ext cx="3886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Raw Eye-Tracking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69840" y="1506873"/>
            <a:ext cx="2941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  <a:cs typeface="Times New Roman"/>
              </a:rPr>
              <a:t>293,740 fixations
(EyeLink .xlsx files)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16417" y="2113860"/>
            <a:ext cx="4069080" cy="292608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800600" y="2121408"/>
            <a:ext cx="3886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Spatial Filter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91612" y="2421273"/>
            <a:ext cx="2890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  <a:cs typeface="Times New Roman"/>
              </a:rPr>
              <a:t>Remove fixations outside
1024x768 screen
5,037 removed (1.71%)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09160" y="3129861"/>
            <a:ext cx="4069080" cy="292608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778829" y="3173694"/>
            <a:ext cx="3886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Temporal Filter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06126" y="3466302"/>
            <a:ext cx="28832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  <a:cs typeface="Times New Roman"/>
              </a:rPr>
              <a:t>Remove fixations &lt; 50 ms
(post-saccadic tremor artifacts)
7,666 removed (2.66%)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09160" y="4182146"/>
            <a:ext cx="4069080" cy="292608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800600" y="4182436"/>
            <a:ext cx="3886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Clean Fixation Data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13383" y="4504074"/>
            <a:ext cx="25639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  <a:cs typeface="Times New Roman"/>
              </a:rPr>
              <a:t>281,037 fixations
ready for feature extraction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Data Construction -- Tier 1: Spatial Filtering Visualization</a:t>
            </a:r>
          </a:p>
        </p:txBody>
      </p:sp>
      <p:pic>
        <p:nvPicPr>
          <p:cNvPr id="4" name="Picture 3" descr="tier1_2d_fil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43" y="674188"/>
            <a:ext cx="8325970" cy="56868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8302" y="6481209"/>
            <a:ext cx="7686767" cy="4154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050" i="1">
                <a:solidFill>
                  <a:srgbClr val="555555"/>
                </a:solidFill>
              </a:rPr>
              <a:t>Subject 2 (SZ): red = valid fixations; x = spatial rejections (outside 1024x768 screen); orange = temporal rejections (&lt; 50 </a:t>
            </a:r>
            <a:r>
              <a:rPr sz="1050" i="1" err="1">
                <a:solidFill>
                  <a:srgbClr val="555555"/>
                </a:solidFill>
              </a:rPr>
              <a:t>ms</a:t>
            </a:r>
            <a:r>
              <a:rPr sz="1050" i="1">
                <a:solidFill>
                  <a:srgbClr val="555555"/>
                </a:solidFill>
              </a:rPr>
              <a:t>). 5,037 fixations removed spatially (1.71%) and 7,666 temporally (2.66%) across the full dataset, yielding 281,037 clean fixations.</a:t>
            </a:r>
            <a:endParaRPr lang="en-US" sz="1050" i="1">
              <a:solidFill>
                <a:srgbClr val="555555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Data Construction -- Feature Engineering (135-dim Expert Vector)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894660"/>
            <a:ext cx="4324531" cy="3092994"/>
          </a:xfrm>
          <a:prstGeom prst="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1011" y="898725"/>
            <a:ext cx="4069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8B0000"/>
                </a:solidFill>
              </a:rPr>
              <a:t>Tier 2A -- Stimulus-Level Features  (15 features)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1011" y="1301061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B0000"/>
                </a:solidFill>
              </a:rPr>
              <a:t>    Fixation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011" y="1520517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   count, mean/median/std of duration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011" y="1831413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B0000"/>
                </a:solidFill>
              </a:rPr>
              <a:t>    Saccade Dynamics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011" y="205086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   amplitude, mean/std; SA-FDR ratio; mean turning 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011" y="2361765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B0000"/>
                </a:solidFill>
              </a:rPr>
              <a:t>    Scanpath Geometry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011" y="258122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   total length, center bias, convex hull area, 2D spatial entropy (10x10 grid)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011" y="2892117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B0000"/>
                </a:solidFill>
              </a:rPr>
              <a:t>    Pupil Dynamics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011" y="3111573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   mean, std, coefficient of variation (CV)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2641" y="865631"/>
            <a:ext cx="4339044" cy="3107509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47623" y="884210"/>
            <a:ext cx="4069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4080"/>
                </a:solidFill>
              </a:rPr>
              <a:t>Tier 2B -- Contextual Delta Features  (120 features)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7623" y="1286546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00000"/>
                </a:solidFill>
              </a:rPr>
              <a:t>100 EMS stimuli -&gt; 4 categories: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7623" y="1560866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04040"/>
                </a:solidFill>
              </a:rPr>
              <a:t>   Social (Soc)  *  Natural (Nat)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7623" y="1835186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04040"/>
                </a:solidFill>
              </a:rPr>
              <a:t>   Synthetic (Syn)  *  Manipulated (Man)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993392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404040"/>
                </a:solidFill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7623" y="2200946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00000"/>
                </a:solidFill>
              </a:rPr>
              <a:t>Per subject x stimulus -&gt; 15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7623" y="2475266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00000"/>
                </a:solidFill>
              </a:rPr>
              <a:t>Averaged per category -&gt; 60 category-mean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633472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404040"/>
                </a:solidFill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47623" y="2841026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00000"/>
                </a:solidFill>
              </a:rPr>
              <a:t>4 cross-category delta features per metric: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47623" y="3115346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04040"/>
                </a:solidFill>
              </a:rPr>
              <a:t>   dSoc-Nat, dMan-Nat, dSoc-Syn, dMan-Syn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47623" y="3389665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00000"/>
                </a:solidFill>
              </a:rPr>
              <a:t>-&gt; 60 delta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547871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404040"/>
                </a:solidFill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40366" y="3544968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00000"/>
                </a:solidFill>
              </a:rPr>
              <a:t>SHAP analysis confirms dSoc-Nat fixation 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40366" y="3710431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00000"/>
                </a:solidFill>
              </a:rPr>
              <a:t>and center bias are top CatBoost predictors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7628" y="3977495"/>
            <a:ext cx="8686800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50371" y="4061677"/>
            <a:ext cx="8672286" cy="702492"/>
          </a:xfrm>
          <a:prstGeom prst="rect">
            <a:avLst/>
          </a:prstGeom>
          <a:solidFill>
            <a:srgbClr val="1F2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3348" y="406893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3348" y="447127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FF"/>
                </a:solidFill>
              </a:rPr>
              <a:t>Stimulus-level features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29228" y="406893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94988" y="406893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94988" y="447127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FF"/>
                </a:solidFill>
              </a:rPr>
              <a:t>Category-mean features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66588" y="406893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2348" y="406893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2348" y="447127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FF"/>
                </a:solidFill>
              </a:rPr>
              <a:t>Delta (dCategory) features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95388" y="406893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=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61148" y="406893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0000"/>
                </a:solidFill>
              </a:rPr>
              <a:t>135-dim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61148" y="447127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FF"/>
                </a:solidFill>
              </a:rPr>
              <a:t>Expert Vector  x_exp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5857" y="4757783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Sample Subject Trace: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5857" y="5077823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7A"/>
                </a:solidFill>
              </a:rPr>
              <a:t>Subject 001 -&gt; Raw fixations (293 pts) -&gt; Filtered (271 pts) -&gt; 15 stimulus features per trial -&gt; 135-dim vector -&gt; Model Input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5468112"/>
            <a:ext cx="1280160" cy="56692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65176" y="5522976"/>
            <a:ext cx="1207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Raw
.xlsx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90472" y="561441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</a:rPr>
              <a:t>-&gt;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18488" y="5468112"/>
            <a:ext cx="1280160" cy="566928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655064" y="5522976"/>
            <a:ext cx="1207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Spatial
Filter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360" y="561441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</a:rPr>
              <a:t>-&gt;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08376" y="5468112"/>
            <a:ext cx="1280160" cy="566928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044952" y="5522976"/>
            <a:ext cx="1207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Temporal
Filter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70248" y="561441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</a:rPr>
              <a:t>-&gt;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98264" y="5468112"/>
            <a:ext cx="1280160" cy="566928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434840" y="5522976"/>
            <a:ext cx="1207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Feature
Extract.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0136" y="561441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</a:rPr>
              <a:t>-&gt;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88151" y="5468112"/>
            <a:ext cx="1280160" cy="566928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824727" y="5522976"/>
            <a:ext cx="1207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135-dim
Vector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50023" y="561441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</a:rPr>
              <a:t>-&gt;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78039" y="5468112"/>
            <a:ext cx="1280160" cy="56692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214615" y="5522976"/>
            <a:ext cx="1207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Graph /
Model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Data Construction -- Tier 2: Feature Distributions HC vs SZ (Violin + Mann-Whitney U)</a:t>
            </a:r>
          </a:p>
        </p:txBody>
      </p:sp>
      <p:pic>
        <p:nvPicPr>
          <p:cNvPr id="4" name="Picture 3" descr="tier2_feature_vio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" y="835276"/>
            <a:ext cx="9046754" cy="48494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617" y="5799038"/>
            <a:ext cx="8869680" cy="4154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050" i="1">
                <a:solidFill>
                  <a:srgbClr val="555555"/>
                </a:solidFill>
              </a:rPr>
              <a:t>Top 8 discriminative stimulus-level features. All highly significant (p &lt;= 4.4e-242). HC shows higher </a:t>
            </a:r>
            <a:r>
              <a:rPr sz="1050" i="1" err="1">
                <a:solidFill>
                  <a:srgbClr val="555555"/>
                </a:solidFill>
              </a:rPr>
              <a:t>scanpath</a:t>
            </a:r>
            <a:r>
              <a:rPr sz="1050" i="1">
                <a:solidFill>
                  <a:srgbClr val="555555"/>
                </a:solidFill>
              </a:rPr>
              <a:t> length, fixation count, and pupil variability -- consistent with restricted visual exploration in SZ.</a:t>
            </a:r>
            <a:endParaRPr lang="en-US" sz="1050" i="1">
              <a:solidFill>
                <a:srgbClr val="555555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Data Construction -- Feature Correlation Matrix (Pearson r, 15 Stimulus-Level Features)</a:t>
            </a:r>
          </a:p>
        </p:txBody>
      </p:sp>
      <p:pic>
        <p:nvPicPr>
          <p:cNvPr id="4" name="Picture 3" descr="tier2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56" y="826588"/>
            <a:ext cx="6345887" cy="55489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5560" y="6473952"/>
            <a:ext cx="7679509" cy="4154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050" i="1">
                <a:solidFill>
                  <a:srgbClr val="555555"/>
                </a:solidFill>
              </a:rPr>
              <a:t>Fixation/</a:t>
            </a:r>
            <a:r>
              <a:rPr sz="1050" i="1" err="1">
                <a:solidFill>
                  <a:srgbClr val="555555"/>
                </a:solidFill>
              </a:rPr>
              <a:t>scanpath</a:t>
            </a:r>
            <a:r>
              <a:rPr sz="1050" i="1">
                <a:solidFill>
                  <a:srgbClr val="555555"/>
                </a:solidFill>
              </a:rPr>
              <a:t> features form one correlated block (upper-left); pupil features form another (lower-right). Cross-block |r| &lt; 0.20 -- near-orthogonal contributions, no multicollinearity. Confirms complementary diagnostic value of the four feature domains.</a:t>
            </a:r>
            <a:endParaRPr lang="en-US" sz="1050" i="1">
              <a:solidFill>
                <a:srgbClr val="555555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Proposed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611880"/>
            <a:ext cx="27432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Hierarchical 5-Tier Framework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39CE4D7-E0DB-AD90-2FEA-89774A71A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113" y="2133600"/>
            <a:ext cx="9170225" cy="25908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8B4485-93CA-90CC-D0E9-7156ABA92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78800C-962C-9CB3-9DEA-EADF295D7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 </a:t>
            </a: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Hierarchical 5-Tier Framework</a:t>
            </a:r>
          </a:p>
        </p:txBody>
      </p:sp>
    </p:spTree>
    <p:extLst>
      <p:ext uri="{BB962C8B-B14F-4D97-AF65-F5344CB8AC3E}">
        <p14:creationId xmlns:p14="http://schemas.microsoft.com/office/powerpoint/2010/main" val="1942460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Proposed Method -- Hierarchical 5-Tier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872889"/>
            <a:ext cx="731520" cy="56692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" y="982617"/>
            <a:ext cx="731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Tier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872889"/>
            <a:ext cx="2057400" cy="56692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982617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0000"/>
                </a:solidFill>
                <a:latin typeface="Times New Roman"/>
                <a:cs typeface="Times New Roman"/>
              </a:rPr>
              <a:t>Preprocessing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872889"/>
            <a:ext cx="5715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46120" y="982617"/>
            <a:ext cx="5623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  <a:cs typeface="Times New Roman"/>
              </a:rPr>
              <a:t>Spatial + Temporal Filtering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659273"/>
            <a:ext cx="731520" cy="566928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" y="1769001"/>
            <a:ext cx="731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Tier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1659273"/>
            <a:ext cx="2057400" cy="56692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" y="1769001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4080"/>
                </a:solidFill>
                <a:latin typeface="Times New Roman"/>
                <a:cs typeface="Times New Roman"/>
              </a:rPr>
              <a:t>Feature Engineering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659273"/>
            <a:ext cx="5715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46120" y="1769001"/>
            <a:ext cx="5623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  <a:cs typeface="Times New Roman"/>
              </a:rPr>
              <a:t>135-dim Expert Vector (15 + 60 + 60 delta)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445657"/>
            <a:ext cx="731520" cy="566928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28600" y="2555385"/>
            <a:ext cx="731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Tier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2445657"/>
            <a:ext cx="2057400" cy="56692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7280" y="2555385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070"/>
                </a:solidFill>
                <a:latin typeface="Times New Roman"/>
                <a:cs typeface="Times New Roman"/>
              </a:rPr>
              <a:t>Tabular GBDT Baselines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445657"/>
            <a:ext cx="5715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46120" y="2555385"/>
            <a:ext cx="5623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  <a:cs typeface="Times New Roman"/>
              </a:rPr>
              <a:t>XGBoost * LightGBM * CatBoost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3232041"/>
            <a:ext cx="731520" cy="566928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28600" y="3341769"/>
            <a:ext cx="731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Tier 4A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1560" y="3232041"/>
            <a:ext cx="2057400" cy="56692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97280" y="3341769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A0A"/>
                </a:solidFill>
                <a:latin typeface="Times New Roman"/>
                <a:cs typeface="Times New Roman"/>
              </a:rPr>
              <a:t>GNN-CEFAM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3232041"/>
            <a:ext cx="5715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46120" y="3341769"/>
            <a:ext cx="5623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  <a:cs typeface="Times New Roman"/>
              </a:rPr>
              <a:t>Graph Attention + Cross-Attention Enhanced Fusion (on 135-dim expert)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4018425"/>
            <a:ext cx="731520" cy="566928"/>
          </a:xfrm>
          <a:prstGeom prst="rect">
            <a:avLst/>
          </a:prstGeom>
          <a:solidFill>
            <a:srgbClr val="6A0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28600" y="4128153"/>
            <a:ext cx="731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Tier 4B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1560" y="4018425"/>
            <a:ext cx="2057400" cy="56692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97280" y="4128153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A0D83"/>
                </a:solidFill>
                <a:latin typeface="Times New Roman"/>
                <a:cs typeface="Times New Roman"/>
              </a:rPr>
              <a:t>BiCA-HS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4018425"/>
            <a:ext cx="5715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246120" y="4128153"/>
            <a:ext cx="5623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  <a:cs typeface="Times New Roman"/>
              </a:rPr>
              <a:t>Bidirectional Cross-Attention Hybrid Stream (Transformer + expert)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4804809"/>
            <a:ext cx="731520" cy="5669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28600" y="4914537"/>
            <a:ext cx="731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Tier 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" y="4804809"/>
            <a:ext cx="2057400" cy="56692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97280" y="4914537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Times New Roman"/>
                <a:cs typeface="Times New Roman"/>
              </a:rPr>
              <a:t>Meta-Learner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4804809"/>
            <a:ext cx="5715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246120" y="4914537"/>
            <a:ext cx="5623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  <a:cs typeface="Times New Roman"/>
              </a:rPr>
              <a:t>OOF Logistic Regression Ensemble (CatBoost + BiCA-HS)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1343" y="5758688"/>
            <a:ext cx="8686800" cy="457200"/>
          </a:xfrm>
          <a:prstGeom prst="rect">
            <a:avLst/>
          </a:prstGeom>
          <a:solidFill>
            <a:srgbClr val="1F2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58503" y="5831840"/>
            <a:ext cx="8412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Output: P(SZ)  -- Diagnostic probability per subject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599" y="5403669"/>
            <a:ext cx="6429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0000"/>
                </a:solidFill>
                <a:latin typeface="Times New Roman"/>
                <a:cs typeface="Times New Roman"/>
              </a:rPr>
              <a:t>OOF cross-validation (GroupKFold, 4 folds) ensures zero data leakage across all tiers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A8CF2A-0355-14F5-0B44-047E0B47B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A23BBF-DA1B-B126-6E9F-87C3B407C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559" y="868068"/>
            <a:ext cx="4212882" cy="51218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F44975-5C56-68D8-E57A-EE078C8818C7}"/>
              </a:ext>
            </a:extLst>
          </p:cNvPr>
          <p:cNvSpPr txBox="1"/>
          <p:nvPr/>
        </p:nvSpPr>
        <p:spPr>
          <a:xfrm>
            <a:off x="228600" y="7315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Proposed Method -- Tier 4A: GNN-CEFAM</a:t>
            </a:r>
          </a:p>
        </p:txBody>
      </p:sp>
    </p:spTree>
    <p:extLst>
      <p:ext uri="{BB962C8B-B14F-4D97-AF65-F5344CB8AC3E}">
        <p14:creationId xmlns:p14="http://schemas.microsoft.com/office/powerpoint/2010/main" val="3252457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Proposed Method -- Tier 4A: GNN-CEFAM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438912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1" i="0">
                <a:solidFill>
                  <a:srgbClr val="8B0000"/>
                </a:solidFill>
                <a:latin typeface="Times New Roman"/>
                <a:cs typeface="Times New Roman"/>
              </a:rPr>
              <a:t>Architecture</a:t>
            </a:r>
            <a:endParaRPr lang="en-US" sz="1400" b="1" i="0">
              <a:solidFill>
                <a:srgbClr val="8B0000"/>
              </a:solidFill>
              <a:latin typeface="Times New Roman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4434840" cy="59436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048" y="1207008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207008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Fixation sequence  T x 5-dim
(X, Y, duration, pupil, dpupil)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297" y="1844475"/>
            <a:ext cx="4434840" cy="59436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1305" y="1881051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Graph G=(V,E)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8977" y="1881051"/>
            <a:ext cx="23774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Nodes: fixation patches -&gt; ResNet50 -&gt; R69
Edges: temporal + spatial k-NN (k=3)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297" y="2525776"/>
            <a:ext cx="4434840" cy="594360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1305" y="2562352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2x GAT Layers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8977" y="2562352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4 attention heads each
H_nodes in R^{Nx256}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185305"/>
            <a:ext cx="4434840" cy="59436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4048" y="3221881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Global Attn Pool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221881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z_graph in R128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73863"/>
            <a:ext cx="4434840" cy="594360"/>
          </a:xfrm>
          <a:prstGeom prst="rect">
            <a:avLst/>
          </a:prstGeom>
          <a:solidFill>
            <a:srgbClr val="6A0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84048" y="3910439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Expert Stream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3910439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x_exp (135-dim) -&gt; MLP -&gt; z_expert in R128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540649"/>
            <a:ext cx="443484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4048" y="4577225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CEFAM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577225"/>
            <a:ext cx="23774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Dir.1: Expert-&gt;Graph nodes (attn1)
Dir.2: Graph-&gt;Expert (degenerate, seq=1)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207435"/>
            <a:ext cx="4434840" cy="289561"/>
          </a:xfrm>
          <a:prstGeom prst="rect">
            <a:avLst/>
          </a:prstGeom>
          <a:solidFill>
            <a:srgbClr val="1F2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2277" y="5222240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Fusion MLP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09949" y="5222240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z_fused in R256 -&gt; P(SZ)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67663" y="822091"/>
            <a:ext cx="3680823" cy="469029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212080" y="786384"/>
            <a:ext cx="365760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1" i="0">
                <a:solidFill>
                  <a:srgbClr val="004080"/>
                </a:solidFill>
                <a:latin typeface="Times New Roman"/>
                <a:cs typeface="Times New Roman"/>
              </a:rPr>
              <a:t>Key Innovations</a:t>
            </a:r>
            <a:endParaRPr lang="en-US" sz="1400" b="1" i="0">
              <a:solidFill>
                <a:srgbClr val="004080"/>
              </a:solidFill>
              <a:latin typeface="Times New Roman"/>
              <a:cs typeface="Times New Roman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166360" y="1170432"/>
            <a:ext cx="3611880" cy="256032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230368" y="1207008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Non-Degenerate Cross-Attention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1444752"/>
            <a:ext cx="3611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Prior work unsqueezes both streams to seq_len=1 -&gt; softmax = 1.0 -&gt; no learning signal.
CEFAM queries expert over pre-pooling node sequence H_nodes in R^{Nx256}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66360" y="2286000"/>
            <a:ext cx="3611880" cy="256032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230368" y="2322576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Dual Edge Types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66360" y="2560320"/>
            <a:ext cx="3611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Temporal edges (v_i-&gt;v_{i+1}) capture scanpath order
Spatial k-NN edges connect fixations in 2D space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66360" y="3401568"/>
            <a:ext cx="3611880" cy="256032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230368" y="3438144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Attention Sparsity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3675887"/>
            <a:ext cx="36118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Focal loss (a=0.5, g=2.0) + entropy penalty on attn weights (l=0.01)
-&gt; interpretable fixation saliency maps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66360" y="4517136"/>
            <a:ext cx="3611880" cy="256032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230368" y="4553712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Training Protocol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66360" y="4791455"/>
            <a:ext cx="36118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AdamW (lr=5e-4, decay=1e-4)
CosineAnnealingWarmRestarts
Early stopping on OOF AUC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Proposed Method -- GNN-CEFAM: Spatiotemporal Fixation Graph (Subject 2, Trial 1)</a:t>
            </a:r>
          </a:p>
        </p:txBody>
      </p:sp>
      <p:pic>
        <p:nvPicPr>
          <p:cNvPr id="4" name="Picture 3" descr="tier4_graph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74" y="797560"/>
            <a:ext cx="7678050" cy="56360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24874" y="6444924"/>
            <a:ext cx="7360195" cy="4154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050" i="1">
                <a:solidFill>
                  <a:srgbClr val="555555"/>
                </a:solidFill>
              </a:rPr>
              <a:t>Node size proportional to fixation duration; color proportional to normalized pupil size; arrows = temporal scan order. k-NN spatial edges (k=3) added alongside temporal edges. Graph fed into 2x GAT layers (4 heads) -&gt; </a:t>
            </a:r>
            <a:r>
              <a:rPr sz="1050" i="1" err="1">
                <a:solidFill>
                  <a:srgbClr val="555555"/>
                </a:solidFill>
              </a:rPr>
              <a:t>H_nodes</a:t>
            </a:r>
            <a:r>
              <a:rPr sz="1050" i="1">
                <a:solidFill>
                  <a:srgbClr val="555555"/>
                </a:solidFill>
              </a:rPr>
              <a:t> in R^{Nx256}.</a:t>
            </a:r>
            <a:endParaRPr lang="en-US" sz="1050" i="1">
              <a:solidFill>
                <a:srgbClr val="555555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6EA54C-6F77-ED1A-F6BE-DA7690998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E4F928-658D-65B3-581B-F10DE4257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810" y="895283"/>
            <a:ext cx="3592380" cy="50674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28FACB-5BC0-040E-2DB1-6451CC991E91}"/>
              </a:ext>
            </a:extLst>
          </p:cNvPr>
          <p:cNvSpPr txBox="1"/>
          <p:nvPr/>
        </p:nvSpPr>
        <p:spPr>
          <a:xfrm>
            <a:off x="228600" y="73152"/>
            <a:ext cx="92891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Proposed Method -- Tier 4B: BiCA-HS (Bidirectional Cross-Attention Hybrid Stream)</a:t>
            </a:r>
          </a:p>
        </p:txBody>
      </p:sp>
    </p:spTree>
    <p:extLst>
      <p:ext uri="{BB962C8B-B14F-4D97-AF65-F5344CB8AC3E}">
        <p14:creationId xmlns:p14="http://schemas.microsoft.com/office/powerpoint/2010/main" val="1287529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92891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Proposed Method -- Tier 4B: BiCA-HS (Bidirectional Cross-Attention Hybrid Stream)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4389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0D83"/>
                </a:solidFill>
                <a:latin typeface="Times New Roman"/>
                <a:cs typeface="Times New Roman"/>
              </a:rPr>
              <a:t>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4434840" cy="594360"/>
          </a:xfrm>
          <a:prstGeom prst="rect">
            <a:avLst/>
          </a:prstGeom>
          <a:solidFill>
            <a:srgbClr val="6A0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048" y="1207008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207008"/>
            <a:ext cx="21945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Fixation seq. 200 x 5-dim (no ResNet50)
-&gt; handles &gt;8x more fixations than CEFAM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22704"/>
            <a:ext cx="4434840" cy="59436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1859280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Linear Proj + Sinusoidal 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859280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-&gt; R^{200x128}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67719"/>
            <a:ext cx="4434840" cy="594360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2504295"/>
            <a:ext cx="2103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4x Transformer Encoder Layers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504295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H_seq in R^{200x128}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105477"/>
            <a:ext cx="4434840" cy="59436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4048" y="3142053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Expert Stream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142053"/>
            <a:ext cx="2194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x_exp (135-dim) -&gt; MLP -&gt; z_expert in R128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325" y="3779519"/>
            <a:ext cx="4376784" cy="9281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84048" y="3779810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BiCA Module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779810"/>
            <a:ext cx="219456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Dir.1: Expert queries Seq (expert-guided attention)
Dir.2: Seq queries Expert (sequence-guided expert)
z_fused in R256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1811" y="4823677"/>
            <a:ext cx="4420326" cy="311332"/>
          </a:xfrm>
          <a:prstGeom prst="rect">
            <a:avLst/>
          </a:prstGeom>
          <a:solidFill>
            <a:srgbClr val="1F2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98562" y="4838482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Mean Pool + Concat -&gt; MLP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29114" y="4838482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-&gt; Dropout -&gt; z_final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3582" y="5243721"/>
            <a:ext cx="4391298" cy="289561"/>
          </a:xfrm>
          <a:prstGeom prst="rect">
            <a:avLst/>
          </a:prstGeom>
          <a:solidFill>
            <a:srgbClr val="6A0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05819" y="5258526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Classifier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36371" y="5258526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-&gt; P(SZ)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40234" y="814833"/>
            <a:ext cx="3847737" cy="49733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212080" y="786384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080"/>
                </a:solidFill>
                <a:latin typeface="Times New Roman"/>
                <a:cs typeface="Times New Roman"/>
              </a:rPr>
              <a:t>Why BiCA-HS Outperforms GNN-CEFAM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66360" y="1170432"/>
            <a:ext cx="3611880" cy="256032"/>
          </a:xfrm>
          <a:prstGeom prst="rect">
            <a:avLst/>
          </a:prstGeom>
          <a:solidFill>
            <a:srgbClr val="6A0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230368" y="1207008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Longer Context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1444752"/>
            <a:ext cx="3611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200 fixations vs. 24 for GNN-CEFAM
-&gt; captures full scanpath trajectory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66360" y="2121408"/>
            <a:ext cx="3611880" cy="256032"/>
          </a:xfrm>
          <a:prstGeom prst="rect">
            <a:avLst/>
          </a:prstGeom>
          <a:solidFill>
            <a:srgbClr val="6A0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230368" y="2157984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No Degenerate Dir.2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66360" y="2395728"/>
            <a:ext cx="3611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Both BiCA directions are meaningful
(seq_len=200, not 1)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66360" y="3072384"/>
            <a:ext cx="3611880" cy="256032"/>
          </a:xfrm>
          <a:prstGeom prst="rect">
            <a:avLst/>
          </a:prstGeom>
          <a:solidFill>
            <a:srgbClr val="6A0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230368" y="3108960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No ResNet50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3346704"/>
            <a:ext cx="3611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Eliminates visual feature extraction overhead;
faster training, stable convergence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66360" y="4023360"/>
            <a:ext cx="3611880" cy="256032"/>
          </a:xfrm>
          <a:prstGeom prst="rect">
            <a:avLst/>
          </a:prstGeom>
          <a:solidFill>
            <a:srgbClr val="6A0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230368" y="4059936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Stable Convergence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66360" y="4297680"/>
            <a:ext cx="3611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Converges across all 12 fold x seed runs
(CV_AUC = 0.024 vs 0.032 for CEFAM)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66360" y="4974336"/>
            <a:ext cx="3611880" cy="256032"/>
          </a:xfrm>
          <a:prstGeom prst="rect">
            <a:avLst/>
          </a:prstGeom>
          <a:solidFill>
            <a:srgbClr val="6A0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230368" y="5010912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Better Calibration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248656"/>
            <a:ext cx="3611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ECE = 0.031, Brier = 0.088
-&gt; probabilities usable as clinical risk scores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Proposed Method -- Why Temporal Modeling? t-SNE &amp; PCA of ResNet50 Visual Embeddings</a:t>
            </a:r>
          </a:p>
        </p:txBody>
      </p:sp>
      <p:pic>
        <p:nvPicPr>
          <p:cNvPr id="4" name="Picture 3" descr="tier4_resnet_ts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3848"/>
            <a:ext cx="8778240" cy="336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617" y="5189438"/>
            <a:ext cx="8869680" cy="4154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050" i="1">
                <a:solidFill>
                  <a:srgbClr val="555555"/>
                </a:solidFill>
              </a:rPr>
              <a:t>SZ (red) and HC (blue) subject-mean ResNet50 embeddings are heavily mixed in both t-SNE and PCA space. Raw patch-level visual features cannot discriminate schizophrenia -- confirming that temporal trajectory modeling (</a:t>
            </a:r>
            <a:r>
              <a:rPr sz="1050" i="1" err="1">
                <a:solidFill>
                  <a:srgbClr val="555555"/>
                </a:solidFill>
              </a:rPr>
              <a:t>BiCA</a:t>
            </a:r>
            <a:r>
              <a:rPr sz="1050" i="1">
                <a:solidFill>
                  <a:srgbClr val="555555"/>
                </a:solidFill>
              </a:rPr>
              <a:t>-HS) is essential.</a:t>
            </a:r>
            <a:endParaRPr lang="en-US" sz="1050" i="1">
              <a:solidFill>
                <a:srgbClr val="555555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Proposed Method -- Tier 5: OOF Meta-Learner Ensemble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23689"/>
            <a:ext cx="5050971" cy="3399245"/>
          </a:xfrm>
          <a:prstGeom prst="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4754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Times New Roman"/>
                <a:cs typeface="Times New Roman"/>
              </a:rPr>
              <a:t>Meta-Learning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70432"/>
            <a:ext cx="48006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1.  Collect Out-of-Fold (OOF) predictions from: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     -  CatBoost (P_tab)  -- strong clinical feature model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     -  BiCA-HS (P_bica)  -- best deep model</a:t>
            </a:r>
          </a:p>
          <a:p>
            <a:pPr algn="l">
              <a:spcAft>
                <a:spcPts val="300"/>
              </a:spcAft>
            </a:pPr>
            <a:endParaRPr sz="1200" b="0" i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2.  Protocol: 4-fold GroupKFold (fixed by Train_Valid.xlsx)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     -&gt; Zero data leakage guaranteed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     -&gt; Each subject in exactly one validation fold</a:t>
            </a:r>
          </a:p>
          <a:p>
            <a:pPr algn="l">
              <a:spcAft>
                <a:spcPts val="300"/>
              </a:spcAft>
            </a:pPr>
            <a:endParaRPr sz="1200" b="0" i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3.  Fit L2-regularized Logistic Regression: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     P_final = sigmoid(b_tab*P_tab + b_bica*P_bica + b)</a:t>
            </a:r>
          </a:p>
          <a:p>
            <a:pPr algn="l">
              <a:spcAft>
                <a:spcPts val="300"/>
              </a:spcAft>
            </a:pPr>
            <a:endParaRPr sz="1200" b="0" i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4.  b_tab and b_bica quantify the relative contribution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   of clinical biomarkers vs. deep temporal trajectories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64629" y="901917"/>
            <a:ext cx="3450771" cy="339924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23560" y="786384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080"/>
                </a:solidFill>
                <a:latin typeface="Times New Roman"/>
                <a:cs typeface="Times New Roman"/>
              </a:rPr>
              <a:t>Why OOF?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170432"/>
            <a:ext cx="3200400" cy="2285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Prevents training the meta-learner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on the same data used to train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base models</a:t>
            </a:r>
          </a:p>
          <a:p>
            <a:pPr algn="l">
              <a:spcAft>
                <a:spcPts val="300"/>
              </a:spcAft>
            </a:pPr>
            <a:endParaRPr sz="1200" b="0" i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Each subject's OOF probability is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from a model that never saw it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during training</a:t>
            </a:r>
          </a:p>
          <a:p>
            <a:pPr algn="l">
              <a:spcAft>
                <a:spcPts val="300"/>
              </a:spcAft>
            </a:pPr>
            <a:endParaRPr sz="1200" b="0" i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Comparable to stacked cross-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validation generalization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4370832"/>
            <a:ext cx="8686800" cy="1691640"/>
          </a:xfrm>
          <a:prstGeom prst="rect">
            <a:avLst/>
          </a:prstGeom>
          <a:solidFill>
            <a:srgbClr val="1F2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4462272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Tier 5 Ensemble 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64608"/>
            <a:ext cx="16002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1480" y="4901184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0000"/>
                </a:solidFill>
                <a:latin typeface="Times New Roman"/>
                <a:cs typeface="Times New Roman"/>
              </a:rPr>
              <a:t>0.9590 +/- 0.0009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248656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7A"/>
                </a:solidFill>
                <a:latin typeface="Times New Roman"/>
                <a:cs typeface="Times New Roman"/>
              </a:rPr>
              <a:t>AUC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4864608"/>
            <a:ext cx="16002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03120" y="4901184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0000"/>
                </a:solidFill>
                <a:latin typeface="Times New Roman"/>
                <a:cs typeface="Times New Roman"/>
              </a:rPr>
              <a:t>88.5% +/- 0.3%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248656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7A"/>
                </a:solidFill>
                <a:latin typeface="Times New Roman"/>
                <a:cs typeface="Times New Roman"/>
              </a:rPr>
              <a:t>ACC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4864608"/>
            <a:ext cx="16002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94759" y="4901184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0000"/>
                </a:solidFill>
                <a:latin typeface="Times New Roman"/>
                <a:cs typeface="Times New Roman"/>
              </a:rPr>
              <a:t>88.8% +/- 3.1%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59" y="5248656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7A"/>
                </a:solidFill>
                <a:latin typeface="Times New Roman"/>
                <a:cs typeface="Times New Roman"/>
              </a:rPr>
              <a:t>Sensitivity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79" y="4864608"/>
            <a:ext cx="16002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399" y="4901184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0000"/>
                </a:solidFill>
                <a:latin typeface="Times New Roman"/>
                <a:cs typeface="Times New Roman"/>
              </a:rPr>
              <a:t>88.3% +/- 3.1%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399" y="5248656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7A"/>
                </a:solidFill>
                <a:latin typeface="Times New Roman"/>
                <a:cs typeface="Times New Roman"/>
              </a:rPr>
              <a:t>Specificity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19" y="4864608"/>
            <a:ext cx="16002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78039" y="4901184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0000"/>
                </a:solidFill>
                <a:latin typeface="Times New Roman"/>
                <a:cs typeface="Times New Roman"/>
              </a:rPr>
              <a:t>AUC +0.074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39" y="5248656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7A"/>
                </a:solidFill>
                <a:latin typeface="Times New Roman"/>
                <a:cs typeface="Times New Roman"/>
              </a:rPr>
              <a:t>vs. MSNet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Experimental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611880"/>
            <a:ext cx="27432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Setup * Results * Ablation * Interpretability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Experimental Results -- Setup &amp; Evaluation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09175"/>
            <a:ext cx="4206240" cy="26974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1246" y="917013"/>
            <a:ext cx="3931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Times New Roman"/>
                <a:cs typeface="Times New Roman"/>
              </a:rPr>
              <a:t>Dataset 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246" y="1237343"/>
            <a:ext cx="3977639" cy="1392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208 subjects total (EMS dataset)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160 labeled: 80 SZ + 80 HC  -&gt; Training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48 subjects held-out -&gt; Blind Test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    (labels withheld by dataset curators)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4-fold GroupKFold (folds fixed by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    Train_Valid.xlsx) -&gt; no subject overlap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909175"/>
            <a:ext cx="4251960" cy="26974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57058" y="924270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4080"/>
                </a:solidFill>
                <a:latin typeface="Times New Roman"/>
                <a:cs typeface="Times New Roman"/>
              </a:rPr>
              <a:t>Evaluation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8829" y="1244600"/>
            <a:ext cx="3977639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Out-of-Fold (OOF) cross-validation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    on 160 training subjects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Results reported as mean +/- std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    across 3 seeds (42 / 123 / 456)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Each model: 12 fold x seed runs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Threshold: default t=0.50 (reported),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     optimal t (Youden J) also computed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502152"/>
            <a:ext cx="8686800" cy="1371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3584448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  <a:latin typeface="Times New Roman"/>
                <a:cs typeface="Times New Roman"/>
              </a:rPr>
              <a:t>Evaluation 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50208"/>
            <a:ext cx="1325880" cy="685800"/>
          </a:xfrm>
          <a:prstGeom prst="rect">
            <a:avLst/>
          </a:prstGeom>
          <a:solidFill>
            <a:srgbClr val="1F2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1480" y="4005072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370832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FF"/>
                </a:solidFill>
                <a:latin typeface="Times New Roman"/>
                <a:cs typeface="Times New Roman"/>
              </a:rPr>
              <a:t>Primary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1368" y="3950208"/>
            <a:ext cx="1325880" cy="685800"/>
          </a:xfrm>
          <a:prstGeom prst="rect">
            <a:avLst/>
          </a:prstGeom>
          <a:solidFill>
            <a:srgbClr val="1F2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47088" y="4005072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Accuracy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36976" y="3950208"/>
            <a:ext cx="1325880" cy="685800"/>
          </a:xfrm>
          <a:prstGeom prst="rect">
            <a:avLst/>
          </a:prstGeom>
          <a:solidFill>
            <a:srgbClr val="1F2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82696" y="4005072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Sensitivity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82696" y="4370832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FF"/>
                </a:solidFill>
                <a:latin typeface="Times New Roman"/>
                <a:cs typeface="Times New Roman"/>
              </a:rPr>
              <a:t>(TPR)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72584" y="3950208"/>
            <a:ext cx="1325880" cy="685800"/>
          </a:xfrm>
          <a:prstGeom prst="rect">
            <a:avLst/>
          </a:prstGeom>
          <a:solidFill>
            <a:srgbClr val="1F2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718304" y="4005072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Specificity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4370832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FF"/>
                </a:solidFill>
                <a:latin typeface="Times New Roman"/>
                <a:cs typeface="Times New Roman"/>
              </a:rPr>
              <a:t>(TNR)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950208"/>
            <a:ext cx="1325880" cy="685800"/>
          </a:xfrm>
          <a:prstGeom prst="rect">
            <a:avLst/>
          </a:prstGeom>
          <a:solidFill>
            <a:srgbClr val="1F2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53912" y="4005072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F1-Score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43800" y="3950208"/>
            <a:ext cx="1325880" cy="685800"/>
          </a:xfrm>
          <a:prstGeom prst="rect">
            <a:avLst/>
          </a:prstGeom>
          <a:solidFill>
            <a:srgbClr val="1F2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89520" y="4005072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ECE / Brier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370832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FF"/>
                </a:solidFill>
                <a:latin typeface="Times New Roman"/>
                <a:cs typeface="Times New Roman"/>
              </a:rPr>
              <a:t>Calibration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4983480"/>
            <a:ext cx="8686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0000"/>
                </a:solidFill>
                <a:latin typeface="Times New Roman"/>
                <a:cs typeface="Times New Roman"/>
              </a:rPr>
              <a:t>Seeds: 42 / 123 / 456  --  Results are mean +/- std over 12 fold x seed combinations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5857" y="5387703"/>
            <a:ext cx="8708571" cy="6248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/>
              <a:cs typeface="Times New Roman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2217" y="5421086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4080"/>
                </a:solidFill>
                <a:latin typeface="Times New Roman"/>
                <a:cs typeface="Times New Roman"/>
              </a:rPr>
              <a:t>Models Evaluated: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2217" y="5741126"/>
            <a:ext cx="8412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XGBoost  *  CatBoost  *  ST-GNN  *  GNN-CEFAM (Ours)  *  BiCA-HS (Ours)  *  Tier5+BiCA (Ours)  vs.  MSNet (SOTA)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22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Experimental Results -- OOF Performance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43114" y="887694"/>
            <a:ext cx="1975104" cy="365760"/>
          </a:xfrm>
          <a:prstGeom prst="rect">
            <a:avLst/>
          </a:prstGeom>
          <a:solidFill>
            <a:srgbClr val="1F2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8834" y="933414"/>
            <a:ext cx="18836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4794" y="887694"/>
            <a:ext cx="1243584" cy="365760"/>
          </a:xfrm>
          <a:prstGeom prst="rect">
            <a:avLst/>
          </a:prstGeom>
          <a:solidFill>
            <a:srgbClr val="1F2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00514" y="933414"/>
            <a:ext cx="11521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AUC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34954" y="887694"/>
            <a:ext cx="1060704" cy="365760"/>
          </a:xfrm>
          <a:prstGeom prst="rect">
            <a:avLst/>
          </a:prstGeom>
          <a:solidFill>
            <a:srgbClr val="1F2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80674" y="933414"/>
            <a:ext cx="969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ACC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32234" y="887694"/>
            <a:ext cx="1335024" cy="365760"/>
          </a:xfrm>
          <a:prstGeom prst="rect">
            <a:avLst/>
          </a:prstGeom>
          <a:solidFill>
            <a:srgbClr val="1F2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77954" y="933414"/>
            <a:ext cx="1243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Sensitivity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3834" y="887694"/>
            <a:ext cx="1335024" cy="365760"/>
          </a:xfrm>
          <a:prstGeom prst="rect">
            <a:avLst/>
          </a:prstGeom>
          <a:solidFill>
            <a:srgbClr val="1F2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49554" y="933414"/>
            <a:ext cx="1243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Specificity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5434" y="887694"/>
            <a:ext cx="1152144" cy="365760"/>
          </a:xfrm>
          <a:prstGeom prst="rect">
            <a:avLst/>
          </a:prstGeom>
          <a:solidFill>
            <a:srgbClr val="1F2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21154" y="933414"/>
            <a:ext cx="1060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3114" y="1290030"/>
            <a:ext cx="1975104" cy="47548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8834" y="1381470"/>
            <a:ext cx="18836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MSNet [SOTA]+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54794" y="1290030"/>
            <a:ext cx="1243584" cy="47548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00514" y="1381470"/>
            <a:ext cx="11521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0.8854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34954" y="1290030"/>
            <a:ext cx="1060704" cy="47548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80674" y="1381470"/>
            <a:ext cx="969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81.25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32234" y="1290030"/>
            <a:ext cx="1335024" cy="47548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77954" y="1381470"/>
            <a:ext cx="1243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--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03834" y="1290030"/>
            <a:ext cx="1335024" cy="47548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49554" y="1381470"/>
            <a:ext cx="1243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--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5434" y="1290030"/>
            <a:ext cx="1152144" cy="47548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21154" y="1381470"/>
            <a:ext cx="1060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--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3114" y="1802094"/>
            <a:ext cx="197510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8834" y="1893534"/>
            <a:ext cx="18836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XGBoost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54794" y="1802094"/>
            <a:ext cx="124358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300514" y="1893534"/>
            <a:ext cx="11521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0.872+/-0.005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34954" y="1802094"/>
            <a:ext cx="106070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580674" y="1893534"/>
            <a:ext cx="969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77.7+/-1.1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32234" y="1802094"/>
            <a:ext cx="133502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677954" y="1893534"/>
            <a:ext cx="1243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77.5+/-2.0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03834" y="1802094"/>
            <a:ext cx="133502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049554" y="1893534"/>
            <a:ext cx="1243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77.9+/-1.6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75434" y="1802094"/>
            <a:ext cx="115214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421154" y="1893534"/>
            <a:ext cx="10607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0.777+/-0.012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3114" y="2314158"/>
            <a:ext cx="197510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88834" y="2405598"/>
            <a:ext cx="18836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CatBoost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54794" y="2314158"/>
            <a:ext cx="124358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300514" y="2405598"/>
            <a:ext cx="11521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0.899+/-0.001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34954" y="2314158"/>
            <a:ext cx="106070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580674" y="2405598"/>
            <a:ext cx="969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81.0+/-0.8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32234" y="2314158"/>
            <a:ext cx="133502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677954" y="2405598"/>
            <a:ext cx="1243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78.3+/-0.6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03834" y="2314158"/>
            <a:ext cx="133502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049554" y="2405598"/>
            <a:ext cx="1243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83.8+/-1.0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75434" y="2314158"/>
            <a:ext cx="115214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421154" y="2405598"/>
            <a:ext cx="10607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0.805+/-0.008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3114" y="2826222"/>
            <a:ext cx="197510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88834" y="2917662"/>
            <a:ext cx="18836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ST-GNN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54794" y="2826222"/>
            <a:ext cx="124358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300514" y="2917662"/>
            <a:ext cx="11521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0.933+/-0.009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34954" y="2826222"/>
            <a:ext cx="106070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580674" y="2917662"/>
            <a:ext cx="969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79.0+/-0.3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32234" y="2826222"/>
            <a:ext cx="133502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677954" y="2917662"/>
            <a:ext cx="1243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63.3+/-0.6*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03834" y="2826222"/>
            <a:ext cx="133502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049554" y="2917662"/>
            <a:ext cx="1243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94.6+/-0.6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75434" y="2826222"/>
            <a:ext cx="115214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421154" y="2917662"/>
            <a:ext cx="10607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0.751+/-0.004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3114" y="3338286"/>
            <a:ext cx="1975104" cy="540802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88834" y="3429726"/>
            <a:ext cx="18836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GNN-CEFAM (Ours)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54794" y="3338286"/>
            <a:ext cx="1243584" cy="540802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300514" y="3429726"/>
            <a:ext cx="11521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0.921+/-0.006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34954" y="3338286"/>
            <a:ext cx="1060704" cy="540802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580674" y="3429726"/>
            <a:ext cx="969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85.0+/-1.6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32234" y="3338286"/>
            <a:ext cx="1335024" cy="540802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677954" y="3429726"/>
            <a:ext cx="1243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85.0+/-1.0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03834" y="3338286"/>
            <a:ext cx="1335024" cy="540802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049554" y="3429726"/>
            <a:ext cx="1243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84.2+/-2.1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75434" y="3338286"/>
            <a:ext cx="1152144" cy="540802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421154" y="3429726"/>
            <a:ext cx="10607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0.847+/-0.009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43114" y="3908407"/>
            <a:ext cx="1975104" cy="497259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88834" y="3941790"/>
            <a:ext cx="18836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BiCA-HS (Ours)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54794" y="3908407"/>
            <a:ext cx="1243584" cy="497259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2300514" y="3941790"/>
            <a:ext cx="11521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0.955+/-0.004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534954" y="3908407"/>
            <a:ext cx="1060704" cy="497259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580674" y="3941790"/>
            <a:ext cx="969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87.3+/-1.3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32234" y="3908407"/>
            <a:ext cx="1335024" cy="497259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677954" y="3941790"/>
            <a:ext cx="1243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87.5+/-4.7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03834" y="3908407"/>
            <a:ext cx="1335024" cy="497259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049554" y="3941790"/>
            <a:ext cx="1243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87.1+/-2.1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375434" y="3908407"/>
            <a:ext cx="1152144" cy="497259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421154" y="3941790"/>
            <a:ext cx="10607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0.873+/-0.017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43114" y="4442242"/>
            <a:ext cx="1975104" cy="460974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288834" y="4453854"/>
            <a:ext cx="18836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Times New Roman"/>
                <a:cs typeface="Times New Roman"/>
              </a:rPr>
              <a:t>Tier5+BiCA (Ours)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254794" y="4442242"/>
            <a:ext cx="1243584" cy="460974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2300514" y="4453854"/>
            <a:ext cx="11521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Times New Roman"/>
                <a:cs typeface="Times New Roman"/>
              </a:rPr>
              <a:t>0.959+/-0.001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534954" y="4442242"/>
            <a:ext cx="1060704" cy="460974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580674" y="4453854"/>
            <a:ext cx="969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Times New Roman"/>
                <a:cs typeface="Times New Roman"/>
              </a:rPr>
              <a:t>88.5+/-0.3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32234" y="4442242"/>
            <a:ext cx="1335024" cy="460974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4677954" y="4453854"/>
            <a:ext cx="1243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Times New Roman"/>
                <a:cs typeface="Times New Roman"/>
              </a:rPr>
              <a:t>88.8+/-3.1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03834" y="4442242"/>
            <a:ext cx="1335024" cy="460974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049554" y="4453854"/>
            <a:ext cx="1243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Times New Roman"/>
                <a:cs typeface="Times New Roman"/>
              </a:rPr>
              <a:t>88.3+/-3.1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75434" y="4442242"/>
            <a:ext cx="1152144" cy="460974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421154" y="4453854"/>
            <a:ext cx="10607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Times New Roman"/>
                <a:cs typeface="Times New Roman"/>
              </a:rPr>
              <a:t>0.886+/-0.004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43114" y="4920198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04040"/>
                </a:solidFill>
                <a:latin typeface="Times New Roman"/>
                <a:cs typeface="Times New Roman"/>
              </a:rPr>
              <a:t>+ MSNet AUC reported on 48-subject blind test; our OOF is on 160 training subjects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43114" y="5194518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04040"/>
                </a:solidFill>
                <a:latin typeface="Times New Roman"/>
                <a:cs typeface="Times New Roman"/>
              </a:rPr>
              <a:t>* ST-GNN achieves only 63.3% sensitivity at t=0.50 despite AUC=0.933 -- systematic HC bias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35857" y="5507301"/>
            <a:ext cx="8686800" cy="597262"/>
          </a:xfrm>
          <a:prstGeom prst="rect">
            <a:avLst/>
          </a:prstGeom>
          <a:solidFill>
            <a:srgbClr val="1F2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380274" y="5587710"/>
            <a:ext cx="8412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Tier5+BiCA achieves AUC = 0.9590 +/- 0.0009  --  surpassing MSNet SOTA by +0.074 AUC  and improving clinical sensitivity to 88.8% +/- 3.1%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3210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23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Experimental Results -- Model Performance: AUC / ACC / F1 / Sensitivity / Specificity</a:t>
            </a:r>
          </a:p>
        </p:txBody>
      </p:sp>
      <p:pic>
        <p:nvPicPr>
          <p:cNvPr id="4" name="Picture 3" descr="F1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" y="1181699"/>
            <a:ext cx="8858068" cy="39098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" y="5254752"/>
            <a:ext cx="8869680" cy="4154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050" i="1">
                <a:solidFill>
                  <a:srgbClr val="555555"/>
                </a:solidFill>
              </a:rPr>
              <a:t>Mean +/- std over seeds 42/123/456. </a:t>
            </a:r>
            <a:r>
              <a:rPr sz="1050" i="1" err="1">
                <a:solidFill>
                  <a:srgbClr val="555555"/>
                </a:solidFill>
              </a:rPr>
              <a:t>MSNet</a:t>
            </a:r>
            <a:r>
              <a:rPr sz="1050" i="1">
                <a:solidFill>
                  <a:srgbClr val="555555"/>
                </a:solidFill>
              </a:rPr>
              <a:t> SOTA baselines shown as dashed lines (AUC=0.8854, ACC=81.25%). All proposed models exceed SOTA. Tier5+BiCA achieves highest AUC (0.959) and ACC (88.5%). ST-GNN's low sensitivity at t=0.50 is a calibration artefact.</a:t>
            </a:r>
            <a:endParaRPr lang="en-US" sz="1050" i="1">
              <a:solidFill>
                <a:srgbClr val="555555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Experimental Results -- OOF ROC Curves vs MSNet SOTA Baseline (Seed 42)</a:t>
            </a:r>
          </a:p>
        </p:txBody>
      </p:sp>
      <p:pic>
        <p:nvPicPr>
          <p:cNvPr id="4" name="Picture 3" descr="F7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362" y="768530"/>
            <a:ext cx="6369217" cy="56795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43445" y="6473952"/>
            <a:ext cx="7541624" cy="4154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050" i="1" err="1">
                <a:solidFill>
                  <a:srgbClr val="555555"/>
                </a:solidFill>
              </a:rPr>
              <a:t>BiCA</a:t>
            </a:r>
            <a:r>
              <a:rPr sz="1050" i="1">
                <a:solidFill>
                  <a:srgbClr val="555555"/>
                </a:solidFill>
              </a:rPr>
              <a:t>-HS (AUC=0.9581) and Tier5+BiCA (AUC=0.9600) dominate the upper-left region. </a:t>
            </a:r>
            <a:r>
              <a:rPr sz="1050" i="1" err="1">
                <a:solidFill>
                  <a:srgbClr val="555555"/>
                </a:solidFill>
              </a:rPr>
              <a:t>MSNet</a:t>
            </a:r>
            <a:r>
              <a:rPr sz="1050" i="1">
                <a:solidFill>
                  <a:srgbClr val="555555"/>
                </a:solidFill>
              </a:rPr>
              <a:t> reported operating point shown for reference. ST-GNN's imbalanced sensitivity/specificity at t=0.50 is visible.</a:t>
            </a:r>
            <a:endParaRPr lang="en-US" sz="1050" i="1">
              <a:solidFill>
                <a:srgbClr val="555555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Experimental Results -- Ablation Study: Component Contribution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10774"/>
            <a:ext cx="5084355" cy="5078549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4846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Times New Roman"/>
                <a:cs typeface="Times New Roman"/>
              </a:rPr>
              <a:t>Component Contribution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1837943" cy="443411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6615" y="1207008"/>
            <a:ext cx="176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Comparison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170432"/>
            <a:ext cx="557784" cy="443411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31136" y="1207008"/>
            <a:ext cx="4846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dAUC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1170432"/>
            <a:ext cx="557784" cy="443411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25496" y="1207008"/>
            <a:ext cx="4846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dACC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79" y="1170432"/>
            <a:ext cx="1883664" cy="443411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19856" y="1207008"/>
            <a:ext cx="1810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Interpretation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606876"/>
            <a:ext cx="1837943" cy="5145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6615" y="1572768"/>
            <a:ext cx="17647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CEFAM Fusion
vs GNN-Only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1606876"/>
            <a:ext cx="557784" cy="5145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31136" y="1572768"/>
            <a:ext cx="48463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Times New Roman"/>
                <a:cs typeface="Times New Roman"/>
              </a:rPr>
              <a:t>-0.026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1606876"/>
            <a:ext cx="557784" cy="5145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25496" y="1572768"/>
            <a:ext cx="48463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Times New Roman"/>
                <a:cs typeface="Times New Roman"/>
              </a:rPr>
              <a:t>-0.025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79" y="1606876"/>
            <a:ext cx="1883664" cy="5145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34370" y="1652597"/>
            <a:ext cx="18105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CEFAM fusion adds overhead over pure GNN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157984"/>
            <a:ext cx="1837943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6615" y="2203703"/>
            <a:ext cx="17647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GNN Stream
vs Tabular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2157984"/>
            <a:ext cx="557784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31136" y="2203703"/>
            <a:ext cx="4846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070"/>
                </a:solidFill>
                <a:latin typeface="Times New Roman"/>
                <a:cs typeface="Times New Roman"/>
              </a:rPr>
              <a:t>+0.042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2157984"/>
            <a:ext cx="557784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825496" y="2203703"/>
            <a:ext cx="4846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070"/>
                </a:solidFill>
                <a:latin typeface="Times New Roman"/>
                <a:cs typeface="Times New Roman"/>
              </a:rPr>
              <a:t>+0.044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79" y="2157984"/>
            <a:ext cx="1883664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419856" y="2203703"/>
            <a:ext cx="18105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Graph topology adds +4.2% AUC over CatBoost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788920"/>
            <a:ext cx="1837943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56615" y="2834639"/>
            <a:ext cx="17647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Transformer
vs GAT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788920"/>
            <a:ext cx="557784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231136" y="2834639"/>
            <a:ext cx="4846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4080"/>
                </a:solidFill>
                <a:latin typeface="Times New Roman"/>
                <a:cs typeface="Times New Roman"/>
              </a:rPr>
              <a:t>+0.046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88920" y="2788920"/>
            <a:ext cx="557784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825496" y="2834639"/>
            <a:ext cx="4846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4080"/>
                </a:solidFill>
                <a:latin typeface="Times New Roman"/>
                <a:cs typeface="Times New Roman"/>
              </a:rPr>
              <a:t>+0.038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79" y="2788920"/>
            <a:ext cx="1883664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419856" y="2834639"/>
            <a:ext cx="18105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Transformer encoder outperforms graph attention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419856"/>
            <a:ext cx="1837943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56615" y="3465575"/>
            <a:ext cx="17647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BiCA-HS full
vs ST-GNN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94560" y="3419856"/>
            <a:ext cx="557784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31136" y="3465575"/>
            <a:ext cx="4846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0D83"/>
                </a:solidFill>
                <a:latin typeface="Times New Roman"/>
                <a:cs typeface="Times New Roman"/>
              </a:rPr>
              <a:t>+0.020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88920" y="3419856"/>
            <a:ext cx="557784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825496" y="3465575"/>
            <a:ext cx="4846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0D83"/>
                </a:solidFill>
                <a:latin typeface="Times New Roman"/>
                <a:cs typeface="Times New Roman"/>
              </a:rPr>
              <a:t>+0.013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79" y="3419856"/>
            <a:ext cx="1883664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419856" y="3465575"/>
            <a:ext cx="18105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Bidirectional cross-attention + expert stream gains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4160520"/>
            <a:ext cx="4846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Times New Roman"/>
                <a:cs typeface="Times New Roman"/>
              </a:rPr>
              <a:t>AUC Progression: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489704"/>
            <a:ext cx="932688" cy="502920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47472" y="4507992"/>
            <a:ext cx="8778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0.899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472" y="4764024"/>
            <a:ext cx="8778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CatBoost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07592" y="4489704"/>
            <a:ext cx="932688" cy="5029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335024" y="4507992"/>
            <a:ext cx="8778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0.933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35024" y="4764024"/>
            <a:ext cx="8778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ST-GNN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95144" y="4489704"/>
            <a:ext cx="932688" cy="50292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322576" y="4507992"/>
            <a:ext cx="8778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0.921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42749" y="4764024"/>
            <a:ext cx="16688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GNN-CEFAM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82696" y="4489704"/>
            <a:ext cx="932688" cy="502920"/>
          </a:xfrm>
          <a:prstGeom prst="rect">
            <a:avLst/>
          </a:prstGeom>
          <a:solidFill>
            <a:srgbClr val="6A0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310128" y="4507992"/>
            <a:ext cx="8778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0.958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0128" y="4764024"/>
            <a:ext cx="8778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BiCA-HS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489704"/>
            <a:ext cx="932688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297680" y="4507992"/>
            <a:ext cx="8778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0.959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97680" y="4764024"/>
            <a:ext cx="8778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Tier5+BiCA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82920" y="1003517"/>
            <a:ext cx="3339737" cy="508580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669280" y="786384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4080"/>
                </a:solidFill>
                <a:latin typeface="Times New Roman"/>
                <a:cs typeface="Times New Roman"/>
              </a:rPr>
              <a:t>Fold Stability (4-fold CV)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23560" y="1170432"/>
            <a:ext cx="1197864" cy="443411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660136" y="1207008"/>
            <a:ext cx="11247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858000" y="1170432"/>
            <a:ext cx="630936" cy="443411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894576" y="1207008"/>
            <a:ext cx="5577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Mean AUC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170432"/>
            <a:ext cx="630936" cy="443411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562088" y="1207008"/>
            <a:ext cx="5577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Std AUC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93024" y="1170432"/>
            <a:ext cx="630936" cy="443411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229600" y="1207008"/>
            <a:ext cx="5577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CV AUC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23560" y="1585105"/>
            <a:ext cx="1197864" cy="3991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660136" y="1618488"/>
            <a:ext cx="11247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GNN-CEFAM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58000" y="1585105"/>
            <a:ext cx="630936" cy="3991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894576" y="1618488"/>
            <a:ext cx="5577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0.941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525512" y="1585105"/>
            <a:ext cx="630936" cy="3991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562088" y="1618488"/>
            <a:ext cx="5577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0.033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193024" y="1585105"/>
            <a:ext cx="630936" cy="3991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8229600" y="1618488"/>
            <a:ext cx="5577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0.035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23560" y="2020824"/>
            <a:ext cx="119786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660136" y="2112264"/>
            <a:ext cx="11247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ST-GNN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858000" y="2020824"/>
            <a:ext cx="63093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894576" y="2112264"/>
            <a:ext cx="5577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0.944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525512" y="2020824"/>
            <a:ext cx="63093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562088" y="2112264"/>
            <a:ext cx="5577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0.033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93024" y="2020824"/>
            <a:ext cx="63093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229600" y="2112264"/>
            <a:ext cx="5577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0.034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23560" y="2514600"/>
            <a:ext cx="119786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5660136" y="2606040"/>
            <a:ext cx="11247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BiCA-HS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858000" y="2514600"/>
            <a:ext cx="63093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894576" y="2606040"/>
            <a:ext cx="5577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0.963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2514600"/>
            <a:ext cx="63093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7562088" y="2606040"/>
            <a:ext cx="5577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cs typeface="Times New Roman"/>
              </a:rPr>
              <a:t>0.023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193024" y="2514600"/>
            <a:ext cx="63093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Times New Roman"/>
              <a:cs typeface="Times New Roman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229600" y="2606040"/>
            <a:ext cx="5577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0000"/>
                </a:solidFill>
                <a:latin typeface="Times New Roman"/>
                <a:cs typeface="Times New Roman"/>
              </a:rPr>
              <a:t>0.024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23560" y="3191256"/>
            <a:ext cx="3200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Times New Roman"/>
                <a:cs typeface="Times New Roman"/>
              </a:rPr>
              <a:t>BiCA-HS has lowest CV_AUC = 0.024
    (most stable across folds)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23560" y="3877056"/>
            <a:ext cx="320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4080"/>
                </a:solidFill>
                <a:latin typeface="Times New Roman"/>
                <a:cs typeface="Times New Roman"/>
              </a:rPr>
              <a:t>Per-Category AUC (BiCA-HS):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623560" y="4197096"/>
            <a:ext cx="749808" cy="566928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650992" y="4242816"/>
            <a:ext cx="6949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0.958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50992" y="4517136"/>
            <a:ext cx="6949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Social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437376" y="4197096"/>
            <a:ext cx="749808" cy="566928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464808" y="4242816"/>
            <a:ext cx="6949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0.956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10808" y="4517136"/>
            <a:ext cx="12174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Manipulated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251192" y="4197096"/>
            <a:ext cx="749808" cy="566928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278624" y="4242816"/>
            <a:ext cx="6949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0.956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278624" y="4517136"/>
            <a:ext cx="6949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Natural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065008" y="4197096"/>
            <a:ext cx="749808" cy="566928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8092440" y="4242816"/>
            <a:ext cx="6949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0.958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961811" y="4517136"/>
            <a:ext cx="9634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  <a:cs typeface="Times New Roman"/>
              </a:rPr>
              <a:t>Synthetic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3210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Experimental Results -- Research Questions Answered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09465"/>
            <a:ext cx="8686800" cy="36576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6432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RQ1:  Are handcrafted clinical features (135-dim expert vector) sufficiently discriminative?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293513"/>
            <a:ext cx="8686800" cy="1234439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330089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CatBoost on 135-dim features: AUC = 0.899  -- already exceeds MSNet SOTA (0.885)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604409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SHAP confirms dSoc-Nat fixation count and center bias as top predictors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878729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15 stimulus-level features correlate (|r| &lt; 0.6), confirming near-orthogonal contributions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153049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4080"/>
                </a:solidFill>
              </a:rPr>
              <a:t>YES: Handcrafted features alone provide strong discriminative signal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591961"/>
            <a:ext cx="8686800" cy="365760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2646825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RQ2:  Does graph-based spatiotemporal modeling improve over tabular baselines?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976009"/>
            <a:ext cx="8686800" cy="1234439"/>
          </a:xfrm>
          <a:prstGeom prst="rect">
            <a:avLst/>
          </a:prstGeom>
          <a:solidFill>
            <a:srgbClr val="E0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3012585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ST-GNN (GNN only): AUC = 0.933  (+0.034 over XGBoost)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286905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Graph topology contribution: +0.042 AUC, +0.044 ACC vs tabular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561225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ST-GNN suffers HC bias: 63.3% sensitivity at t=0.50 -&gt; requires recalibration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835544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070"/>
                </a:solidFill>
              </a:rPr>
              <a:t>YES: Spatiotemporal graph modeling adds significant value but calibration matters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274456"/>
            <a:ext cx="8686800" cy="36576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432932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RQ3:  Can a hybrid Graph-Transformer ensemble with meta-learning surpass published MSNet SOTA?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4658504"/>
            <a:ext cx="8686800" cy="1234439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469508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BiCA-HS: AUC = 0.955 (+0.070 over MSNet)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9694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Tier5+BiCA: AUC = 0.9590 +/- 0.0009  -- exceeds MSNet by +0.074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524372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Sensitivity 88.8% +/- 3.1%  (vs. MSNet benchmark on separate blind test)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551804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0000"/>
                </a:solidFill>
              </a:rPr>
              <a:t>YES: Bidirectional cross-attention + meta-learning ensemble surpasses SOTA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35077" y="942847"/>
            <a:ext cx="8674100" cy="5303393"/>
          </a:xfrm>
        </p:spPr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Experimental Results -- Interpretability &amp; Calibration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814832"/>
            <a:ext cx="4251960" cy="2743200"/>
          </a:xfrm>
          <a:prstGeom prst="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989584"/>
            <a:ext cx="3977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SHAP Feature Importance (CatBoost)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72032"/>
            <a:ext cx="3977639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</a:rPr>
              <a:t>Top predictors identified by SHAP beeswarm:</a:t>
            </a:r>
          </a:p>
          <a:p>
            <a:pPr algn="l">
              <a:spcAft>
                <a:spcPts val="300"/>
              </a:spcAft>
            </a:pPr>
            <a:endParaRPr sz="1100" b="0" i="0">
              <a:solidFill>
                <a:srgbClr val="000000"/>
              </a:solidFill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</a:rPr>
              <a:t>1.  dSoc-Nat  fixation count  (rank #1)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</a:rPr>
              <a:t>2.  dSoc-Nat  center bias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</a:rPr>
              <a:t>3.  Category-mean fixation duration (Nat)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</a:rPr>
              <a:t>4.  Pupil diameter variability (Man)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</a:rPr>
              <a:t>5.  Social scene fixation count</a:t>
            </a:r>
          </a:p>
          <a:p>
            <a:pPr algn="l">
              <a:spcAft>
                <a:spcPts val="300"/>
              </a:spcAft>
            </a:pPr>
            <a:endParaRPr sz="1100" b="0" i="0">
              <a:solidFill>
                <a:srgbClr val="000000"/>
              </a:solidFill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</a:rPr>
              <a:t>Clinical insight: SZ patients show reduced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</a:rPr>
              <a:t>social scene exploration relative to natural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</a:rPr>
              <a:t>scenes -- consistent with social gaze avoidance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</a:rPr>
              <a:t>deficits linked to frontal-striatal dysfunction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814832"/>
            <a:ext cx="4251960" cy="2743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600" y="989584"/>
            <a:ext cx="3977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4080"/>
                </a:solidFill>
              </a:rPr>
              <a:t>Attention Maps (GNN-CEFAM)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272032"/>
            <a:ext cx="3977639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</a:rPr>
              <a:t>attn1 weights (Direction 1: Expert-&gt;Nodes)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</a:rPr>
              <a:t>provide fixation-level saliency scores</a:t>
            </a:r>
          </a:p>
          <a:p>
            <a:pPr algn="l">
              <a:spcAft>
                <a:spcPts val="300"/>
              </a:spcAft>
            </a:pPr>
            <a:endParaRPr sz="1100" b="0" i="0">
              <a:solidFill>
                <a:srgbClr val="000000"/>
              </a:solidFill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</a:rPr>
              <a:t>Entropy sparsity penalty (l=0.01) encourages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</a:rPr>
              <a:t>sparse attention -&gt; interpretable maps</a:t>
            </a:r>
          </a:p>
          <a:p>
            <a:pPr algn="l">
              <a:spcAft>
                <a:spcPts val="300"/>
              </a:spcAft>
            </a:pPr>
            <a:endParaRPr sz="1100" b="0" i="0">
              <a:solidFill>
                <a:srgbClr val="000000"/>
              </a:solidFill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</a:rPr>
              <a:t>HC subjects: attention concentrated on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</a:rPr>
              <a:t>socially salient regions (faces, text)</a:t>
            </a:r>
          </a:p>
          <a:p>
            <a:pPr algn="l">
              <a:spcAft>
                <a:spcPts val="300"/>
              </a:spcAft>
            </a:pPr>
            <a:endParaRPr sz="1100" b="0" i="0">
              <a:solidFill>
                <a:srgbClr val="000000"/>
              </a:solidFill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</a:rPr>
              <a:t>SZ subjects: diffuse background-directed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</a:rPr>
              <a:t>attention pattern 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751072"/>
            <a:ext cx="8686800" cy="2286000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3722624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7A"/>
                </a:solidFill>
              </a:rPr>
              <a:t>Probability Calibration (Tier5+BiCA)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06672"/>
            <a:ext cx="2606040" cy="731520"/>
          </a:xfrm>
          <a:prstGeom prst="rect">
            <a:avLst/>
          </a:prstGeom>
          <a:solidFill>
            <a:srgbClr val="1F2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414324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0.031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52729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FF"/>
                </a:solidFill>
              </a:rPr>
              <a:t>ECE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79" y="4106672"/>
            <a:ext cx="2606040" cy="731520"/>
          </a:xfrm>
          <a:prstGeom prst="rect">
            <a:avLst/>
          </a:prstGeom>
          <a:solidFill>
            <a:srgbClr val="1F2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399" y="414324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0.088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399" y="452729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FF"/>
                </a:solidFill>
              </a:rPr>
              <a:t>Brier 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106672"/>
            <a:ext cx="2606040" cy="731520"/>
          </a:xfrm>
          <a:prstGeom prst="rect">
            <a:avLst/>
          </a:prstGeom>
          <a:solidFill>
            <a:srgbClr val="1F2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89320" y="414324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~diagonal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52729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FF"/>
                </a:solidFill>
              </a:rPr>
              <a:t>Reliability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92963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BiCA-HS output probabilities can be interpreted as clinical risk scores without post-hoc calibration -- enabling threshold-free deployment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5569712"/>
            <a:ext cx="8686800" cy="114300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564286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7A"/>
                </a:solidFill>
              </a:rPr>
              <a:t>ROC Comparison Summary: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97204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Tier5+BiCA and BiCA-HS dominate the upper-left region of the ROC curve vs all baselines. ST-GNN's high specificity / low sensitivity at t=0.50 is visible -- confirming the systematic HC bias that disappears only at optimal threshold.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28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Explainability (XAI) -- SHAP Summary Plot: CatBoost Top 20 Features</a:t>
            </a:r>
          </a:p>
        </p:txBody>
      </p:sp>
      <p:pic>
        <p:nvPicPr>
          <p:cNvPr id="4" name="Picture 3" descr="tier3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543" y="848360"/>
            <a:ext cx="4609655" cy="5157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" y="5965952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i="1">
                <a:solidFill>
                  <a:srgbClr val="555555"/>
                </a:solidFill>
              </a:rPr>
              <a:t>Beeswarm plot on 160 subjects x 135-dim expert vector. Top global predictors: Synthetic_pupil_std, Natural_pupil_cv, Social_pupil_std, SA-FDR features. High pupil_std consistently pushes predictions toward SZ -- dysregulated pupil dynamics are the strongest biomarker.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Explainability (XAI) -- SHAP Waterfall: Individual Prediction (SZ #302 vs HC #8)</a:t>
            </a:r>
          </a:p>
        </p:txBody>
      </p:sp>
      <p:pic>
        <p:nvPicPr>
          <p:cNvPr id="4" name="Picture 3" descr="explainability_shap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72563"/>
            <a:ext cx="8778240" cy="38683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" y="5704695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i="1">
                <a:solidFill>
                  <a:srgbClr val="555555"/>
                </a:solidFill>
              </a:rPr>
              <a:t>Left: SZ #302 -- P(SZ)=0.9962; pupil_std and SA-FDR across all categories drive prediction to SZ. Right: HC #8 -- P(SZ)=0.0009; Natural_pupil_cv and Social_pupil_std drive to HC. Per-subject explanation enables clinically interpretable predictions.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Explainability (XAI) -- Case Study: SZ Subject #302 vs HC Subject #8</a:t>
            </a:r>
          </a:p>
        </p:txBody>
      </p:sp>
      <p:pic>
        <p:nvPicPr>
          <p:cNvPr id="4" name="Picture 3" descr="case_study_sz_vs_h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338" y="594360"/>
            <a:ext cx="5915323" cy="58247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" y="6473952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i="1">
                <a:solidFill>
                  <a:srgbClr val="555555"/>
                </a:solidFill>
              </a:rPr>
              <a:t>Top: scanpaths -- SZ has restricted center-biased exploration (1166 fixations); HC has wider spatial coverage (1360 fixations). Middle: per-category P(SZ) profile -- BiCA-HS correctly classifies both subjects across all 4 stimulus categories. Bottom: population context (BiCA-HS P(SZ) distribution, 160 subjects).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Experimental Results -- Calibration: Reliability Diagram &amp; Prediction Distribution (Seed 42)</a:t>
            </a:r>
          </a:p>
        </p:txBody>
      </p:sp>
      <p:pic>
        <p:nvPicPr>
          <p:cNvPr id="4" name="Picture 3" descr="tier5_reliabilit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50926"/>
            <a:ext cx="8778240" cy="311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" y="6473952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i="1">
                <a:solidFill>
                  <a:srgbClr val="555555"/>
                </a:solidFill>
              </a:rPr>
              <a:t>XGBoost (ECE=0.171) is poorly calibrated. BiCA-HS (ECE=0.064) and Tier5/Meta (ECE=0.055) track the diagonal closely. Output probabilities can be used directly as clinical risk scores without post-hoc calibration.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Conclusion &amp; Future Work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13232"/>
            <a:ext cx="8686800" cy="3383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</a:rPr>
              <a:t>Summary &amp; 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70432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Proposed a Hierarchical 5-Tier Framework that bridges clinical domain knowledge with deep representation learning for schizophrenia 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36192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Tier 2 contextual delta features: 60 cross-category delta features encode stimulus-specific visual response differences -- validated by SHAP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1952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GNN-CEFAM: genuine non-degenerate cross-attention between expert stream and pre-pooling fixation nodes -- exceeds MSNet SOTA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67712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BiCA-HS: 4-layer Transformer with bidirectional cross-attention fusion of 135-dim expert stream -- AUC = 0.9549 +/- 0.0039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33472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Tier5+BiCA meta-learner: AUC = 0.9590 +/- 0.0009, Sensitivity = 88.8% +/- 3.1%, well-calibrated (ECE = 0.031)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999232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All proposed models exceed the published MSNet SOTA (AUC = 0.8854)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4187952"/>
            <a:ext cx="8686800" cy="25146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4261104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080"/>
                </a:solidFill>
              </a:rPr>
              <a:t>Limitations &amp; Future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663440"/>
            <a:ext cx="1371600" cy="292608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" y="470001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Limitation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700016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Minor pupil normalization leakage in GNN-CEFAM graph builder (mitigated in BiCA-HS by fold-wise renormalization)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029200"/>
            <a:ext cx="1371600" cy="292608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506577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Multi-site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065776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Validate on independent datasets from different EyeTracking systems and clinical sites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94960"/>
            <a:ext cx="1371600" cy="292608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543153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Extended Modalities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431536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Incorporate pupil dilation dynamics, face-gaze overlap statistics, and EEG co-recording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760720"/>
            <a:ext cx="1371600" cy="292608"/>
          </a:xfrm>
          <a:prstGeom prst="rect">
            <a:avLst/>
          </a:prstGeom>
          <a:solidFill>
            <a:srgbClr val="1F2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" y="579729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Asymmetric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797296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Replace CEFAM Dir.2 with asymmetric attention over multi-head projections to eliminate degeneracy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126480"/>
            <a:ext cx="137160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7472" y="616305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Real-Time 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6163056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Adapt pipeline for bedside clinical screening tool with real-time inference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6492240"/>
            <a:ext cx="1371600" cy="292608"/>
          </a:xfrm>
          <a:prstGeom prst="rect">
            <a:avLst/>
          </a:prstGeom>
          <a:solidFill>
            <a:srgbClr val="6A0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652881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Cross-Diagnostic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6528816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Extend to bipolar disorder, autism spectrum disorder classification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34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</a:rPr>
              <a:t>[1]  P. S. Holzman, L. R. Proctor, D. W. Hughes. Eye-tracking dysfunctions in schizophrenic patients. Science, 181, 1973.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</a:rPr>
              <a:t>[2]  P. J. Benson et al. Simple viewing tests can detect schizophrenia with high accuracy. Biol. Psychiatry, 72(9), 2012.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44752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</a:rPr>
              <a:t>[3]  K. Morita et al. Eye movement abnormalities as a biomarker for schizophrenia. Psych. Clin. Neurosciences, 74, 2020.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92224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</a:rPr>
              <a:t>[4]  L. Shpigelman et al. Detecting schizophrenia using machine learning on scanpath data. Schiz. Research, 102, 2008.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39696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</a:rPr>
              <a:t>[5]  L. Huang et al. Effective schizophrenia recognition using discriminative eye movement features. Pattern Recog. Lett., 138, 2020.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487168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</a:rPr>
              <a:t>[6]  P. Tseng et al. High-throughput classification of clinical populations from natural viewing eye movements. Front. Neurology, 4, 2013.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834639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</a:rPr>
              <a:t>[7]  Y. Song et al. Eye movement-based schizophrenia recognition via multi-scale network and mean-shift clustering. IEEE TNNLS, 36(2), 2025.  [SOTA]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182111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</a:rPr>
              <a:t>[8]  M. Birawo, P. Kasprowski. Scanpath classification using graph neural networks. IEEE Trans. Cognitive Dev. Systems, 16, 2024.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529583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</a:rPr>
              <a:t>[9]  P. Velickovic et al. Graph attention networks. ICLR, 2018.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877055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</a:rPr>
              <a:t>[10] A. Vaswani et al. Attention is all you need. NeurIPS, 2017.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224527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</a:rPr>
              <a:t>[11] T. Chen, C. Guestrin. XGBoost: A scalable tree boosting system. KDD, 2016.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71999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</a:rPr>
              <a:t>[12] T.-Y. Lin et al. Focal loss for dense object detection. ICCV, 2017.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35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383280"/>
            <a:ext cx="45720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Ha-Hai-Van Le  *  Minh-Tuyen Pham  *  Hoang-Giang Bui
Supervisor: Assoc. Prof. Thanh-Hai Tran  *  Dr. Hanh-Trang Bui
School of Electrical and Electronic Engineering -- HUST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0</TotalTime>
  <Words>4029</Words>
  <Application>Microsoft Office PowerPoint</Application>
  <PresentationFormat>On-screen Show (4:3)</PresentationFormat>
  <Paragraphs>608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Lato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Overview: Hierarchical 5-Tier Framework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>Van</dc:creator>
  <dc:description>9Slide.vn</dc:description>
  <cp:lastModifiedBy>Le Ha Hai Van 20233886</cp:lastModifiedBy>
  <cp:revision>19</cp:revision>
  <dcterms:created xsi:type="dcterms:W3CDTF">2021-05-28T04:32:29Z</dcterms:created>
  <dcterms:modified xsi:type="dcterms:W3CDTF">2026-07-03T16:02:18Z</dcterms:modified>
  <cp:category>9Slide.vn</cp:category>
</cp:coreProperties>
</file>