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56" r:id="rId8"/>
    <p:sldId id="258" r:id="rId10"/>
    <p:sldId id="259" r:id="rId11"/>
    <p:sldId id="261" r:id="rId13"/>
    <p:sldId id="260" r:id="rId12"/>
    <p:sldId id="263" r:id="rId7"/>
    <p:sldId id="284" r:id="rId36"/>
    <p:sldId id="264" r:id="rId6"/>
    <p:sldId id="265" r:id="rId5"/>
    <p:sldId id="262" r:id="rId14"/>
    <p:sldId id="266" r:id="rId4"/>
    <p:sldId id="268" r:id="rId2"/>
    <p:sldId id="269" r:id="rId21"/>
    <p:sldId id="270" r:id="rId22"/>
    <p:sldId id="267" r:id="rId3"/>
    <p:sldId id="271" r:id="rId23"/>
    <p:sldId id="272" r:id="rId24"/>
    <p:sldId id="274" r:id="rId26"/>
    <p:sldId id="283" r:id="rId35"/>
    <p:sldId id="276" r:id="rId28"/>
    <p:sldId id="277" r:id="rId29"/>
    <p:sldId id="300" r:id="rId52"/>
    <p:sldId id="279" r:id="rId31"/>
    <p:sldId id="280" r:id="rId32"/>
    <p:sldId id="281" r:id="rId33"/>
    <p:sldId id="282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5.xml"/><Relationship Id="rId4" Type="http://schemas.openxmlformats.org/officeDocument/2006/relationships/slide" Target="slides/slide11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5.xml"/><Relationship Id="rId13" Type="http://schemas.openxmlformats.org/officeDocument/2006/relationships/slide" Target="slides/slide4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27.xml"/><Relationship Id="rId26" Type="http://schemas.openxmlformats.org/officeDocument/2006/relationships/slide" Target="slides/slide18.xml"/><Relationship Id="rId27" Type="http://schemas.openxmlformats.org/officeDocument/2006/relationships/slide" Target="slides/slide26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8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19.xml"/><Relationship Id="rId36" Type="http://schemas.openxmlformats.org/officeDocument/2006/relationships/slide" Target="slides/slide7.xml"/><Relationship Id="rId37" Type="http://schemas.openxmlformats.org/officeDocument/2006/relationships/slide" Target="slides/slide12.xml"/><Relationship Id="rId38" Type="http://schemas.openxmlformats.org/officeDocument/2006/relationships/slide" Target="slides/slide41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5.xml"/><Relationship Id="rId42" Type="http://schemas.openxmlformats.org/officeDocument/2006/relationships/slide" Target="slides/slide13.xml"/><Relationship Id="rId43" Type="http://schemas.openxmlformats.org/officeDocument/2006/relationships/slide" Target="slides/slide29.xml"/><Relationship Id="rId44" Type="http://schemas.openxmlformats.org/officeDocument/2006/relationships/slide" Target="slides/slide36.xml"/><Relationship Id="rId45" Type="http://schemas.openxmlformats.org/officeDocument/2006/relationships/slide" Target="slides/slide38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24.xml"/><Relationship Id="rId50" Type="http://schemas.openxmlformats.org/officeDocument/2006/relationships/slide" Target="slides/slide30.xml"/><Relationship Id="rId51" Type="http://schemas.openxmlformats.org/officeDocument/2006/relationships/slide" Target="slides/slide39.xml"/><Relationship Id="rId52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4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4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35.png"/><Relationship Id="rId4" Type="http://schemas.openxmlformats.org/officeDocument/2006/relationships/image" Target="../media/image4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0.png"/><Relationship Id="rId4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DEFENSE ACADEMY OF VIETNAM (DAV)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FACULTY OF INFORMATION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F5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8046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</a:rPr>
              <a:t>EYE MOVEMENT-BASED SCHIZOPHRENIA RECOGNITION</a:t>
            </a:r>
          </a:p>
          <a:p>
            <a:pPr algn="ctr"/>
            <a:r>
              <a:rPr sz="2200" b="1" i="0">
                <a:solidFill>
                  <a:srgbClr val="C00000"/>
                </a:solidFill>
              </a:rPr>
              <a:t>USING HIERARCHICAL MULTI-STREAM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F497D"/>
                </a:solidFill>
              </a:rPr>
              <a:t>A 5-Tier Pipeline: Preprocessing → Feature Engineering → Tabular → Deep Learning → Meta-Learner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31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04040"/>
                </a:solidFill>
              </a:rPr>
              <a:t>Students: Ha-Hai-Van Le • Minh-Tuyen Pham • Hoang-Giang Bui</a:t>
            </a:r>
          </a:p>
          <a:p>
            <a:pPr algn="ctr"/>
            <a:r>
              <a:rPr sz="1200" b="0" i="0">
                <a:solidFill>
                  <a:srgbClr val="404040"/>
                </a:solidFill>
              </a:rPr>
              <a:t>Supervisor: Thanh-Hai Tran • Hanh-Trang Bui</a:t>
            </a:r>
          </a:p>
          <a:p>
            <a:pPr algn="ctr"/>
            <a:r>
              <a:rPr sz="1100" b="0" i="0">
                <a:solidFill>
                  <a:srgbClr val="404040"/>
                </a:solidFill>
              </a:rPr>
              <a:t>School of Electrical &amp; Electronic Engineering — HUST | Hanoi,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355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Hanoi,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/>
            <a:r>
              <a:rPr sz="1700"/>
              <a:t>Schizophrenia (SZ) affects ~1% of the global population (~75 million people)</a:t>
            </a:r>
          </a:p>
          <a:p>
            <a:pPr/>
            <a:r>
              <a:rPr sz="1700"/>
              <a:t>Current clinical diagnosis is entirely subjective (interview-based, DSM-5) — prone to inconsistency</a:t>
            </a:r>
          </a:p>
          <a:p>
            <a:pPr/>
            <a:r>
              <a:rPr sz="1700"/>
              <a:t>Eye-tracking is a non-invasive, objective biomarker: SZ patients show clear oculomotor abnormalities</a:t>
            </a:r>
          </a:p>
          <a:p>
            <a:pPr/>
            <a:r>
              <a:rPr sz="1700"/>
              <a:t>Challenge: No existing model integrates multi-level features (handcrafted + graph + raw sequences) jointly</a:t>
            </a:r>
          </a:p>
          <a:p>
            <a:pPr/>
            <a:r>
              <a:rPr sz="1700"/>
              <a:t>Opportunity: EMS dataset (Song et al. 2025) — 208 subjects, 4 stimulus categories, largest published</a:t>
            </a:r>
          </a:p>
          <a:p>
            <a:pPr/>
            <a:r>
              <a:rPr sz="1700"/>
              <a:t>Goal: Build a 5-tier hierarchical pipeline that fully exploits eye-tracking signals for SZ/HC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/>
            <a:r>
              <a:rPr sz="1700"/>
              <a:t>Schizophrenia (SZ) affects ~1% of the global population (~75 million people)</a:t>
            </a:r>
          </a:p>
          <a:p>
            <a:pPr/>
            <a:r>
              <a:rPr sz="1700"/>
              <a:t>Current clinical diagnosis is entirely subjective (interview-based, DSM-5) — prone to inconsistency</a:t>
            </a:r>
          </a:p>
          <a:p>
            <a:pPr/>
            <a:r>
              <a:rPr sz="1700"/>
              <a:t>Eye-tracking is a non-invasive, objective biomarker: SZ patients show clear oculomotor abnormalities</a:t>
            </a:r>
          </a:p>
          <a:p>
            <a:pPr/>
            <a:r>
              <a:rPr sz="1700"/>
              <a:t>Challenge: No existing model integrates multi-level features (handcrafted + graph + raw sequences) jointly</a:t>
            </a:r>
          </a:p>
          <a:p>
            <a:pPr/>
            <a:r>
              <a:rPr sz="1700"/>
              <a:t>Opportunity: EMS dataset (Song et al. 2025) — 208 subjects, 4 stimulus categories, largest published</a:t>
            </a:r>
          </a:p>
          <a:p>
            <a:pPr/>
            <a:r>
              <a:rPr sz="1700"/>
              <a:t>Goal: Build a 5-tier hierarchical pipeline that fully exploits eye-tracking signals for SZ/HC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EMS Dataset (Song et al., 2025)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208 subjects: 104 SZ + 104 HC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Eye-tracker: EyeLink 1000 Plus @ 1000 Hz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100 naturalistic stimuli per subject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  4 categories: Social, Natural, Synthetic, Manipulated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Split: 160 labeled (train) + 48 blind (test)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Train labels: 80 SZ + 80 HC (perfectly balanced)</a:t>
            </a:r>
          </a:p>
          <a:p>
            <a:pPr algn="l"/>
            <a:r>
              <a:rPr sz="6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Raw Data Columns per fixation: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  IMAGE, FIX_INDEX, FIX_DURATION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  FIX_X, FIX_Y, FIX_PUPIL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  Subject_ID, Label, Is_Test, Set (fold ID)</a:t>
            </a:r>
          </a:p>
          <a:p>
            <a:pPr algn="l"/>
            <a:r>
              <a:rPr sz="6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Scale: 293,740 raw fixations → 281,037 after filtering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(1.71% spatial + 2.66% temporal removed)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1500"/>
              <a:t>Raw data columns:</a:t>
            </a:r>
          </a:p>
          <a:p>
            <a:pPr lvl="1"/>
            <a:r>
              <a:rPr sz="1500"/>
              <a:t>IMAGE, FIX_INDEX, FIX_DURATION</a:t>
            </a:r>
          </a:p>
          <a:p>
            <a:pPr lvl="1"/>
            <a:r>
              <a:rPr sz="1500"/>
              <a:t>FIX_X, FIX_Y, FIX_PUPIL</a:t>
            </a:r>
          </a:p>
          <a:p>
            <a:pPr lvl="1"/>
            <a:r>
              <a:rPr sz="1500"/>
              <a:t>Subject_ID, Label, Is_Test</a:t>
            </a:r>
          </a:p>
          <a:p>
            <a:pPr/>
          </a:p>
          <a:p>
            <a:pPr/>
            <a:r>
              <a:rPr sz="1500"/>
              <a:t>Evaluation protocol:</a:t>
            </a:r>
          </a:p>
          <a:p>
            <a:pPr lvl="1"/>
            <a:r>
              <a:rPr sz="1500"/>
              <a:t>4-fold GroupKFold</a:t>
            </a:r>
          </a:p>
          <a:p>
            <a:pPr lvl="1"/>
            <a:r>
              <a:rPr sz="1500"/>
              <a:t>(from official EMS Train_Valid.xlsx)</a:t>
            </a:r>
          </a:p>
          <a:p>
            <a:pPr lvl="1"/>
            <a:r>
              <a:rPr sz="1500"/>
              <a:t>3 seeds: 42, 123, 456</a:t>
            </a:r>
          </a:p>
          <a:p>
            <a:pPr lvl="1"/>
            <a:r>
              <a:rPr sz="1500"/>
              <a:t>OOF (Out-Of-Fold) predictions</a:t>
            </a:r>
          </a:p>
          <a:p>
            <a:pPr/>
          </a:p>
          <a:p>
            <a:pPr/>
            <a:r>
              <a:rPr sz="1500"/>
              <a:t>Reference SOTA:</a:t>
            </a:r>
          </a:p>
          <a:p>
            <a:pPr lvl="1"/>
            <a:r>
              <a:rPr sz="1500"/>
              <a:t>MSNet: AUC=0.8854, ACC=81.25%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PROBLEM STATEMENT &amp; DATASET (EMS)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3 / 26</a:t>
            </a:r>
          </a:p>
        </p:txBody>
      </p:sp>
      <p:pic>
        <p:nvPicPr>
          <p:cNvPr id="7" name="Picture 6" descr="soc_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1920240" cy="1645920"/>
          </a:xfrm>
          <a:prstGeom prst="rect">
            <a:avLst/>
          </a:prstGeom>
        </p:spPr>
      </p:pic>
      <p:pic>
        <p:nvPicPr>
          <p:cNvPr id="8" name="Picture 7" descr="land_0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88720"/>
            <a:ext cx="1920240" cy="1645920"/>
          </a:xfrm>
          <a:prstGeom prst="rect">
            <a:avLst/>
          </a:prstGeom>
        </p:spPr>
      </p:pic>
      <p:pic>
        <p:nvPicPr>
          <p:cNvPr id="9" name="Picture 8" descr="art_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017520"/>
            <a:ext cx="1920240" cy="1645920"/>
          </a:xfrm>
          <a:prstGeom prst="rect">
            <a:avLst/>
          </a:prstGeom>
        </p:spPr>
      </p:pic>
      <p:pic>
        <p:nvPicPr>
          <p:cNvPr id="10" name="Picture 9" descr="noi_04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017520"/>
            <a:ext cx="192024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4800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</a:rPr>
              <a:t>Social          Natural          Synthetic       Manipulated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/>
            <a:r>
              <a:rPr sz="1700"/>
              <a:t>1. 5-Tier Hierarchical Pipeline: Preprocessing → Feature Engineering → Tabular → DL → Meta-Learner</a:t>
            </a:r>
          </a:p>
          <a:p>
            <a:pPr/>
            <a:r>
              <a:rPr sz="1700"/>
              <a:t>2. CEFAM (Cross-attention Expert-Fixation Attention Module): Bidirectional attention between expert knowledge stream and GNN fixation nodes</a:t>
            </a:r>
          </a:p>
          <a:p>
            <a:pPr/>
            <a:r>
              <a:rPr sz="1700"/>
              <a:t>3. BiCA-HS (Bidirectional Cross-Attention Hybrid Stream): Combines Transformer (raw sequences) + Biomarker MLP (15 stimulus-level features) via bidirectional cross-attention</a:t>
            </a:r>
          </a:p>
          <a:p>
            <a:pPr/>
            <a:r>
              <a:rPr sz="1700"/>
              <a:t>4. Delta Features: 60 contrast features across stimulus-category pairs — captures SZ-specific viewing anomalies by visual context</a:t>
            </a:r>
          </a:p>
          <a:p>
            <a:pPr/>
            <a:r>
              <a:rPr sz="1700"/>
              <a:t>5. Comprehensive Evaluation: Bootstrap CI, DeLong test, multi-seed stability (3 seeds), 4-component 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RELATED WORKS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Architecture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Itti et al. (2000)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Handcrafted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Saliency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Cannot learn from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Nakashima et al.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CNN visual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ResNet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Ignores temporal sequence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Li et al. (GNN)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Graph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GCN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Lacks integrated biomarkers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MSNet (SOTA)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Multi-scale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CNN+Fusion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AUC=0.8854, does not leverage 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Ours (5-tier)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135 features</a:t>
                      </a:r>
                    </a:p>
                    <a:p>
                      <a:pPr algn="ctr"/>
                      <a:r>
                        <a:rPr sz="1400"/>
                        <a:t>+graph+seq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CEFAM+BiCA-HS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Most comprehensive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3492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Category 1: Handcrafted Feature Methods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Spigelman et al.: SVM on scanpath statistics — AUC ~0.80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Huang et al.: discriminative features + model-metric — limited temporal</a:t>
            </a:r>
          </a:p>
          <a:p>
            <a:pPr algn="l"/>
            <a:r>
              <a:rPr sz="1200" b="0" i="1">
                <a:solidFill>
                  <a:srgbClr val="C05000"/>
                </a:solidFill>
              </a:rPr>
              <a:t>• Limitation: discard spatiotemporal structure of scanpaths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Category 2: Deep Scanpath Models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MSNet (Song et al., 2025): multi-scale CNN on gaze density maps</a:t>
            </a:r>
          </a:p>
          <a:p>
            <a:pPr algn="l"/>
            <a:r>
              <a:rPr sz="1200" b="1" i="0">
                <a:solidFill>
                  <a:srgbClr val="1F497D"/>
                </a:solidFill>
              </a:rPr>
              <a:t>  → AUC = 0.8854 on 48 blind test subjects (current SOTA)</a:t>
            </a:r>
          </a:p>
          <a:p>
            <a:pPr algn="l"/>
            <a:r>
              <a:rPr sz="1200" b="0" i="1">
                <a:solidFill>
                  <a:srgbClr val="C05000"/>
                </a:solidFill>
              </a:rPr>
              <a:t>• GAN-based: loses fixation-level clinical interpretability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Category 3: Graph/Transformer Scanpath Models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Birawo &amp; Kasprowski: GCN on scanpath graphs — no feature fusion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Transformers (Vaswani et al.): sequence modeling, limited biomarker integration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007000"/>
                </a:solidFill>
              </a:rPr>
              <a:t>Research Gap → Our Solution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No prior study integrates clinical biomarkers + GNN + Transformer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on EMS with rigorous OOF evaluation &amp; cross-attention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INPUT: Raw EMS Excel sheets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293,740 raw fixations • FIX_X, FIX_Y, FIX_DURATION, FIX_PUPIL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Step 1 — Spatial Filter (DAV: C2 Outlier removal)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Remove fixations outside 1024×768 px screen boundary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Removed: 5,037 fixations (1.71%)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Step 2 — Temporal Filter (DAV: C2 Noise removal)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Remove fixations &lt; 50 ms (post-saccadic tremor artifact)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Removed: 7,666 fixations (2.66%)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Step 3 — Pupil Normalization (DAV: C2 Scaling)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Fold-wise z-score: μ/σ from train subjects only (no leakage)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SZ: significantly lower, more variable pupil size (p&lt;0.001)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007000"/>
                </a:solidFill>
              </a:rPr>
              <a:t>OUTPUT: 281,037 clean fixations → clean_fixations.parquet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TIER 1 — DATA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6 / 26</a:t>
            </a:r>
          </a:p>
        </p:txBody>
      </p:sp>
      <p:pic>
        <p:nvPicPr>
          <p:cNvPr id="8" name="Picture 7" descr="tier1_spatial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8720"/>
            <a:ext cx="4297680" cy="2286000"/>
          </a:xfrm>
          <a:prstGeom prst="rect">
            <a:avLst/>
          </a:prstGeom>
        </p:spPr>
      </p:pic>
      <p:pic>
        <p:nvPicPr>
          <p:cNvPr id="9" name="Picture 8" descr="tier1_temporal_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566160"/>
            <a:ext cx="42976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Pupil Size as Biomarker (DAV C2: Scaling / Normalization)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Finding: SZ patients show: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Significantly LOWER mean pupil size vs. HC (p&lt;0.001, Mann-Whitney U)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Higher coefficient of variation (more variable)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Reduced luminance-driven pupil response to stimuli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Normalization Protocol (DAV C2: Preventing Leakage):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Step 1: Global z-score in graph_builder.py (initial)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Step 2: Fold-wise renormalization in train_tier4.py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  μ_fold, σ_fold computed from train subjects ONLY per fold</a:t>
            </a:r>
          </a:p>
          <a:p>
            <a:pPr algn="l"/>
            <a:r>
              <a:rPr sz="1100" b="0" i="0">
                <a:solidFill>
                  <a:srgbClr val="1F497D"/>
                </a:solidFill>
              </a:rPr>
              <a:t>  pupil_fold = pupil_global × (σ_global/σ_fold) + (μ_global-μ_fold)/σ_fold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Result: Eliminates pupil-based data leakage across folds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PUPIL DYNAMICS &amp; NORMALIZATION (DAV: C2)</a:t>
            </a:r>
          </a:p>
        </p:txBody>
      </p:sp>
      <p:pic>
        <p:nvPicPr>
          <p:cNvPr id="5" name="Picture 4" descr="tier1_pupil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3891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INPUT → CLEAN: What gets removed?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Pink dots:  Valid fixations (kept)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Within 1024×768 screen boundary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Duration ≥ 50 ms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C00000"/>
                </a:solidFill>
              </a:rPr>
              <a:t>Red ×:  Rejected — spatial boundary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FIX_X &lt; 0 or &gt; 1024, FIX_Y &lt; 0 or &gt; 768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Example: fixation at X=35, Y=271 (outside screen)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C05000"/>
                </a:solidFill>
              </a:rPr>
              <a:t>Orange dots:  Rejected — too short (&lt;50ms)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Post-saccadic tremor artifacts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Below perceptual threshold for meaningful fixation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DAV C2 — Outlier Removal: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This 2D scatter is a canonical outlier detection visualization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Spatial: geometric boundary rule (domain knowledge)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Temporal: threshold rule based on psychophysics (50ms minimum)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007000"/>
                </a:solidFill>
              </a:rPr>
              <a:t>Subject 2 (SZ): 1,560 raw → 1,519 retained (2.6% removed)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1 — 2D SCANPATH FILTERING VISUALIZATION (DAV: C2)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005840"/>
            <a:ext cx="4572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8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INPUT → CLEAN: What gets removed?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Pink dots:  Valid fixations (kept)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Within 1024×768 screen boundary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Duration ≥ 50 ms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C00000"/>
                </a:solidFill>
              </a:rPr>
              <a:t>Red ×:  Rejected — spatial boundary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FIX_X &lt; 0 or &gt; 1024, FIX_Y &lt; 0 or &gt; 768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Example: fixation at X=35, Y=271 (outside screen)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C05000"/>
                </a:solidFill>
              </a:rPr>
              <a:t>Orange dots:  Rejected — too short (&lt;50ms)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Post-saccadic tremor artifacts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  → Below perceptual threshold for meaningful fixation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DAV C2 — Outlier Removal: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This 2D scatter is a canonical outlier detection visualization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Spatial: geometric boundary rule (domain knowledge)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Temporal: threshold rule based on psychophysics (50ms minimum)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007000"/>
                </a:solidFill>
              </a:rPr>
              <a:t>Subject 2 (SZ): 1,560 raw → 1,519 retained (2.6% removed)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1 — 2D SCANPATH FILTERING VISUALIZATION (DAV: C2)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005840"/>
            <a:ext cx="4572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Post-Filter FIX_X and FIX_Y Distributions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Mann-Whitney U test: *** (p &lt; 0.001)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Key Finding — Center Bias in SZ: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SZ: FIX_X distribution peaks sharply at center (~500px)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HC: FIX_X distribution broader — more peripheral exploration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SZ: FIX_Y similarly more center-concentrated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Clinical Interpretation: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→ SZ patients exhibit restricted visual exploration (smaller convex hull area)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→ HC patients scan more freely across the full stimulus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→ This difference directly captured by Center Bias feature (Tier 2A)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1F497D"/>
                </a:solidFill>
              </a:rPr>
              <a:t>DAV C2 — Visualization of filtered data distribution: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Histograms show data quality post-cleaning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No outliers remain outside [0, 1024] × [0, 768]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1 — FIXATION POSITION DISTRIBUTIONS: HC vs SZ (DAV: C2)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474720"/>
            <a:ext cx="877824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9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Post-Filter FIX_X and FIX_Y Distributions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Mann-Whitney U test: *** (p &lt; 0.001)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Key Finding — Center Bias in SZ: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SZ: FIX_X distribution peaks sharply at center (~500px)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HC: FIX_X distribution broader — more peripheral exploration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SZ: FIX_Y similarly more center-concentrated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Clinical Interpretation: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→ SZ patients exhibit restricted visual exploration (smaller convex hull area)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→ HC patients scan more freely across the full stimulus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→ This difference directly captured by Center Bias feature (Tier 2A)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1F497D"/>
                </a:solidFill>
              </a:rPr>
              <a:t>DAV C2 — Visualization of filtered data distribution: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Histograms show data quality post-cleaning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No outliers remain outside [0, 1024] × [0, 768]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1 — FIXATION POSITION DISTRIBUTIONS: HC vs SZ (DAV: C2)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474720"/>
            <a:ext cx="877824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5-TIER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46304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TIER 1
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468880"/>
            <a:ext cx="146304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04040"/>
                </a:solidFill>
              </a:rPr>
              <a:t>Spatial/Temporal
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4792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04040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097280"/>
            <a:ext cx="1463040" cy="13716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TIER 2
Feature Eng.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2468880"/>
            <a:ext cx="146304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04040"/>
                </a:solidFill>
              </a:rPr>
              <a:t>15 → 135
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0404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097280"/>
            <a:ext cx="1463040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TIER 3
Tabular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468880"/>
            <a:ext cx="146304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04040"/>
                </a:solidFill>
              </a:rPr>
              <a:t>XGBoost
CatBoost
LightGBM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0404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1097280"/>
            <a:ext cx="1463040" cy="137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TIER 4
DL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468880"/>
            <a:ext cx="146304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04040"/>
                </a:solidFill>
              </a:rPr>
              <a:t>GNN-CEFAM
BiCA-HS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691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0404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097280"/>
            <a:ext cx="1463040" cy="13716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TIER 5
Meta-Learner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468880"/>
            <a:ext cx="146304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04040"/>
                </a:solidFill>
              </a:rPr>
              <a:t>Weighted Avg
/ Log. Reg.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788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</a:rPr>
              <a:t>clean_fixations.parquet    →    subject_features.csv    →    OOF predictions    →    Final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497D"/>
                </a:solidFill>
              </a:rPr>
              <a:t>281K fixations
raw EMS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2004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497D"/>
                </a:solidFill>
              </a:rPr>
              <a:t>135 features
/subject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004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497D"/>
                </a:solidFill>
              </a:rPr>
              <a:t>OOF AUC
per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2004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497D"/>
                </a:solidFill>
              </a:rPr>
              <a:t>Deep OOF
(4-fold)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2004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497D"/>
                </a:solidFill>
              </a:rPr>
              <a:t>Best ensemble
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760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</a:rPr>
              <a:t>Innovation: CEFAM attention (Tier 4A) | BiCA-HS dual-stream (Tier 4B) | Delta features (Tier 2B) | OOF 4-fold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INPUT: 135-dim expert vector (15 stim-level + 120 cat/delta features)</a:t>
            </a:r>
          </a:p>
          <a:p>
            <a:r>
              <a:rPr sz="4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1F497D"/>
                </a:solidFill>
              </a:rPr>
              <a:t>Three GBDT baselines trained on subject-level aggregated features:</a:t>
            </a:r>
          </a:p>
          <a:p>
            <a:r>
              <a:rPr sz="300" b="0" i="0">
                <a:solidFill>
                  <a:srgbClr val="404040"/>
                </a:solidFill>
              </a:rPr>
              <a:t/>
            </a:r>
          </a:p>
          <a:p>
            <a:r>
              <a:rPr sz="1200" b="0" i="0">
                <a:solidFill>
                  <a:srgbClr val="404040"/>
                </a:solidFill>
              </a:rPr>
              <a:t>• XGBoost:    AUC = 0.872 ± 0.005  |  ACC = 77.7 ± 1.1%</a:t>
            </a:r>
          </a:p>
          <a:p>
            <a:r>
              <a:rPr sz="1200" b="0" i="0">
                <a:solidFill>
                  <a:srgbClr val="404040"/>
                </a:solidFill>
              </a:rPr>
              <a:t>• LightGBM:   AUC = 0.843 ± 0.003  |  ACC = 77.7 ± 1.1%</a:t>
            </a:r>
          </a:p>
          <a:p>
            <a:r>
              <a:rPr sz="1200" b="1" i="0">
                <a:solidFill>
                  <a:srgbClr val="1F497D"/>
                </a:solidFill>
              </a:rPr>
              <a:t>• CatBoost:   AUC = 0.899 ± 0.001  |  ACC = 81.0 ± 0.8%  ← best</a:t>
            </a:r>
          </a:p>
          <a:p>
            <a:r>
              <a:rPr sz="300" b="0" i="0">
                <a:solidFill>
                  <a:srgbClr val="404040"/>
                </a:solidFill>
              </a:rPr>
              <a:t/>
            </a:r>
          </a:p>
          <a:p>
            <a:r>
              <a:rPr sz="1100" b="0" i="0">
                <a:solidFill>
                  <a:srgbClr val="404040"/>
                </a:solidFill>
              </a:rPr>
              <a:t>Protocol: 4-fold GroupKFold (subject-level, zero data leakage)</a:t>
            </a:r>
          </a:p>
          <a:p>
            <a:r>
              <a:rPr sz="1100" b="0" i="0">
                <a:solidFill>
                  <a:srgbClr val="404040"/>
                </a:solidFill>
              </a:rPr>
              <a:t>Aggregation: mean of 4 per-category probability scores → subject P(SZ)</a:t>
            </a:r>
          </a:p>
          <a:p>
            <a:r>
              <a:rPr sz="4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C00000"/>
                </a:solidFill>
              </a:rPr>
              <a:t>Feature Importance (DAV: C7 — XAI / SHAP)</a:t>
            </a:r>
          </a:p>
          <a:p>
            <a:r>
              <a:rPr sz="1100" b="0" i="0">
                <a:solidFill>
                  <a:srgbClr val="404040"/>
                </a:solidFill>
              </a:rPr>
              <a:t>• SHAP beeswarm: Synthetic_pupil_std #1 most important</a:t>
            </a:r>
          </a:p>
          <a:p>
            <a:r>
              <a:rPr sz="1100" b="0" i="0">
                <a:solidFill>
                  <a:srgbClr val="404040"/>
                </a:solidFill>
              </a:rPr>
              <a:t>• Pupil variability features dominate (7 of top 10)</a:t>
            </a:r>
          </a:p>
          <a:p>
            <a:r>
              <a:rPr sz="1100" b="0" i="0">
                <a:solidFill>
                  <a:srgbClr val="404040"/>
                </a:solidFill>
              </a:rPr>
              <a:t>• Delta(Soc−Nat) features in top 10 → validates Tier 2B design</a:t>
            </a:r>
          </a:p>
          <a:p>
            <a:r>
              <a:rPr sz="4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007000"/>
                </a:solidFill>
              </a:rPr>
              <a:t>OUTPUT: OOF subject P_tab → Tier 5 meta-learner</a:t>
            </a:r>
          </a:p>
          <a:p>
            <a:r>
              <a:rPr sz="1100" b="0" i="0">
                <a:solidFill>
                  <a:srgbClr val="404040"/>
                </a:solidFill>
              </a:rPr>
              <a:t>CatBoost selected as Tier 5 input (best AUC)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TIER 3 — TABULAR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11 / 26</a:t>
            </a:r>
          </a:p>
        </p:txBody>
      </p:sp>
      <p:pic>
        <p:nvPicPr>
          <p:cNvPr id="9" name="Picture 8" descr="tier3_shap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97280"/>
            <a:ext cx="4389120" cy="2743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931920"/>
            <a:ext cx="43891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Feature Correlation Analysis (DAV C3)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Pearson correlation matrix of 15 stimulus-level features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Most feature pairs: |r| &lt; 0.6 — near-orthogonal contributions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High correlation: fix_dur_mean ↔ fix_dur_median (redundant)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Moderate: sacc_amp_mean ↔ scanpath_length (expected)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No Multicollinearity Problem Detected: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VIF analysis: all features VIF &lt; 5 (threshold = 10)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SHAP confirms each feature group contributes independently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Feature Distributions (DAV C2: Outlier detection)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Violin plots: SZ vs. HC distributions per key feature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Delta features (ΔSoc-Nat) show largest group separation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All features z-scored; no log-transform needed (near-normal)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FEATURE DISTRIBUTIONS &amp; CORRELATION (DAV: C2, C3)</a:t>
            </a:r>
          </a:p>
        </p:txBody>
      </p:sp>
      <p:pic>
        <p:nvPicPr>
          <p:cNvPr id="5" name="Picture 4" descr="tier2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389120" cy="2743200"/>
          </a:xfrm>
          <a:prstGeom prst="rect">
            <a:avLst/>
          </a:prstGeom>
        </p:spPr>
      </p:pic>
      <p:pic>
        <p:nvPicPr>
          <p:cNvPr id="6" name="Picture 5" descr="tier2_feature_viol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931920"/>
            <a:ext cx="438912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12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Feature Correlation Analysis (DAV C3)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Pearson correlation matrix of 15 stimulus-level features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Most feature pairs: |r| &lt; 0.6 — near-orthogonal contributions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High correlation: fix_dur_mean ↔ fix_dur_median (redundant)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Moderate: sacc_amp_mean ↔ scanpath_length (expected)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No Multicollinearity Problem Detected: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VIF analysis: all features VIF &lt; 5 (threshold = 10)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SHAP confirms each feature group contributes independently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Feature Distributions (DAV C2: Outlier detection)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Violin plots: SZ vs. HC distributions per key feature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Delta features (ΔSoc-Nat) show largest group separation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All features z-scored; no log-transform needed (near-normal)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FEATURE DISTRIBUTIONS &amp; CORRELATION (DAV: C2, C3)</a:t>
            </a:r>
          </a:p>
        </p:txBody>
      </p:sp>
      <p:pic>
        <p:nvPicPr>
          <p:cNvPr id="5" name="Picture 4" descr="tier2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389120" cy="2743200"/>
          </a:xfrm>
          <a:prstGeom prst="rect">
            <a:avLst/>
          </a:prstGeom>
        </p:spPr>
      </p:pic>
      <p:pic>
        <p:nvPicPr>
          <p:cNvPr id="6" name="Picture 5" descr="tier2_feature_viol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931920"/>
            <a:ext cx="438912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2 — TOP 8 DISCRIMINATIVE FEATURES: HC vs SZ (DAV: C3)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657600"/>
            <a:ext cx="8869680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13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2 — TOP 8 DISCRIMINATIVE FEATURES: HC vs SZ (DAV: C3)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657600"/>
            <a:ext cx="8869680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INPUT: OOF predictions from 2 best models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P_tab: CatBoost OOF subject-level probabilities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P_bica: BiCA-HS OOF subject-level probabilities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Meta-Learner: L₂-regularized Logistic Regression</a:t>
            </a:r>
          </a:p>
          <a:p>
            <a:pPr algn="l"/>
            <a:r>
              <a:rPr sz="1300" b="0" i="0">
                <a:solidFill>
                  <a:srgbClr val="1F497D"/>
                </a:solidFill>
              </a:rPr>
              <a:t>P_final = σ(β_tab ⋅ P_tab + β_bica ⋅ P_bica + b)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β_tab, β_bica quantify relative contribution of each stream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Category Weight Optimization (Optuna, 500 trials)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Weights α_Soc, α_Nat, α_Syn, α_Man optimized on OOF predictions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4 parameters on 160 samples — overfitting risk negligible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Calibration (DAV: C1 Visualization)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ECE = 0.031, Brier score = 0.088 (seed 42)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→ Output probabilities usable directly as clinical risk scores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007000"/>
                </a:solidFill>
              </a:rPr>
              <a:t>OUTPUT: P_final per subject  |  AUC = 0.959 ± 0.001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TIER 5 — META-LEARNER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14 / 26</a:t>
            </a:r>
          </a:p>
        </p:txBody>
      </p:sp>
      <p:pic>
        <p:nvPicPr>
          <p:cNvPr id="8" name="Picture 7" descr="tier5_reliabilit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89120" cy="2560320"/>
          </a:xfrm>
          <a:prstGeom prst="rect">
            <a:avLst/>
          </a:prstGeom>
        </p:spPr>
      </p:pic>
      <p:pic>
        <p:nvPicPr>
          <p:cNvPr id="9" name="Picture 8" descr="tier5_d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749039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2B — DELTA FEATURE DISTRIBUTIONS: SZ vs HC (DAV: C3)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tier2_delta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657600"/>
            <a:ext cx="8778240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15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2B — DELTA FEATURE DISTRIBUTIONS: SZ vs HC (DAV: C3)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tier2_delta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657600"/>
            <a:ext cx="8778240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MAIN RESULTS — MODEL COMPARISON (SEED 42)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0584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MSNet (SOTA)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0.8854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81.25%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Reference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XGBoost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0.8702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78.12%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0.7853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Tier 3 tabular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0.8769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78.12%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0.7898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Tier 3 tabular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CatBoost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0.8981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81.25%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0.8500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Tier 3, best tabular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GNN-CEFAM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0.9405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86.88%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0.8679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Tier 4A ✓ surpasses SOTA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BiCA-HS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0.9522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90.62%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0.9123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Tier 4B ✓ best single 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Tier 5 (exploratory)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0.9594*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86.25%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0.8590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*In-sample, exploratory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" y="52120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TABLE 1 — OOF Performance on EMS (mean ± std, seeds 42/123/456)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000" b="1" i="0">
                <a:solidFill>
                  <a:srgbClr val="1F497D"/>
                </a:solidFill>
              </a:rPr>
              <a:t>Model                 AUC              ACC%    Sens%   Spec%   F1</a:t>
            </a:r>
          </a:p>
          <a:p>
            <a:pPr algn="l"/>
            <a:r>
              <a:rPr sz="900" b="0" i="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000" b="0" i="0">
                <a:solidFill>
                  <a:srgbClr val="404040"/>
                </a:solidFill>
              </a:rPr>
              <a:t>MSNet (SOTA)††        0.8854           81.25   —       —       —</a:t>
            </a:r>
          </a:p>
          <a:p>
            <a:pPr algn="l"/>
            <a:r>
              <a:rPr sz="900" b="0" i="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000" b="0" i="0">
                <a:solidFill>
                  <a:srgbClr val="404040"/>
                </a:solidFill>
              </a:rPr>
              <a:t>XGBoost              0.872 ± 0.005    77.7    77.5    77.9    0.777</a:t>
            </a:r>
          </a:p>
          <a:p>
            <a:pPr algn="l"/>
            <a:r>
              <a:rPr sz="1000" b="0" i="0">
                <a:solidFill>
                  <a:srgbClr val="404040"/>
                </a:solidFill>
              </a:rPr>
              <a:t>CatBoost             0.899 ± 0.001    81.0    78.3    83.8    0.805</a:t>
            </a:r>
          </a:p>
          <a:p>
            <a:pPr algn="l"/>
            <a:r>
              <a:rPr sz="900" b="0" i="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000" b="0" i="0">
                <a:solidFill>
                  <a:srgbClr val="404040"/>
                </a:solidFill>
              </a:rPr>
              <a:t>ST-GNN               0.933 ± 0.009    79.0    63.3†   94.6    0.751</a:t>
            </a:r>
          </a:p>
          <a:p>
            <a:pPr algn="l"/>
            <a:r>
              <a:rPr sz="1000" b="0" i="0">
                <a:solidFill>
                  <a:srgbClr val="404040"/>
                </a:solidFill>
              </a:rPr>
              <a:t>GNN-CEFAM (Ours)     0.921 ± 0.006    84.6    85.0    84.2    0.847</a:t>
            </a:r>
          </a:p>
          <a:p>
            <a:pPr algn="l"/>
            <a:r>
              <a:rPr sz="900" b="0" i="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100" b="1" i="0">
                <a:solidFill>
                  <a:srgbClr val="1F497D"/>
                </a:solidFill>
              </a:rPr>
              <a:t>BiCA-HS (Ours)       0.955 ± 0.004    87.3    87.5    87.1    0.873</a:t>
            </a:r>
          </a:p>
          <a:p>
            <a:pPr algn="l"/>
            <a:r>
              <a:rPr sz="1100" b="1" i="0">
                <a:solidFill>
                  <a:srgbClr val="007000"/>
                </a:solidFill>
              </a:rPr>
              <a:t>Tier5+BiCA (Ours)    0.959 ± 0.001    88.5    88.8    88.3    0.886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900" b="0" i="1">
                <a:solidFill>
                  <a:srgbClr val="404040"/>
                </a:solidFill>
              </a:rPr>
              <a:t>†† MSNet tested on 48-subject blind set; our AUC on 160-subject OOF</a:t>
            </a:r>
          </a:p>
          <a:p>
            <a:pPr algn="l"/>
            <a:r>
              <a:rPr sz="900" b="0" i="1">
                <a:solidFill>
                  <a:srgbClr val="C05000"/>
                </a:solidFill>
              </a:rPr>
              <a:t>† ST-GNN: 63.3% sensitivity at τ=0.50 — systematic HC bias</a:t>
            </a:r>
          </a:p>
          <a:p>
            <a:pPr algn="l"/>
            <a:r>
              <a:rPr sz="1100" b="1" i="0">
                <a:solidFill>
                  <a:srgbClr val="007000"/>
                </a:solidFill>
              </a:rPr>
              <a:t>→ BiCA-HS: balanced 87.5%/87.1% at same threshold (clinically preferred)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OOF ROC Curves (seed 42) vs MSNet SOTA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1F497D"/>
                </a:solidFill>
              </a:rPr>
              <a:t>• BiCA-HS AUC = 0.9549 — dominates upper-left region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• Tier5+BiCA AUC = 0.9600 — best overall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GNN-CEFAM AUC = 0.9213 — strong but unstable</a:t>
            </a:r>
          </a:p>
          <a:p>
            <a:pPr algn="l"/>
            <a:r>
              <a:rPr sz="1200" b="0" i="0">
                <a:solidFill>
                  <a:srgbClr val="C05000"/>
                </a:solidFill>
              </a:rPr>
              <a:t>• ST-GNN: high specificity/low sensitivity at τ=0.50 (visible kink)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MSNet ★ = 0.8854 — surpassed by all deep models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DCA (Decision Curve Analysis):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BiCA-HS shows highest net benefit across clinical decision thresholds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OOF ROC Curves (seed 42) vs MSNet SOTA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1F497D"/>
                </a:solidFill>
              </a:rPr>
              <a:t>• BiCA-HS AUC = 0.9549 — dominates upper-left region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• Tier5+BiCA AUC = 0.9600 — best overall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GNN-CEFAM AUC = 0.9213 — strong but unstable</a:t>
            </a:r>
          </a:p>
          <a:p>
            <a:pPr algn="l"/>
            <a:r>
              <a:rPr sz="1200" b="0" i="0">
                <a:solidFill>
                  <a:srgbClr val="C05000"/>
                </a:solidFill>
              </a:rPr>
              <a:t>• ST-GNN: high specificity/low sensitivity at τ=0.50 (visible kink)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MSNet ★ = 0.8854 — surpassed by all deep models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DCA (Decision Curve Analysis):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BiCA-HS shows highest net benefit across clinical decision thresholds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ROC CURVES &amp; DECISION CURVE ANALYSIS (DCA)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57784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</a:rPr>
              <a:t>ROC comparing 5 models + SOTA | DCA: Net Benefit across threshold probabilities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17 / 26</a:t>
            </a:r>
          </a:p>
        </p:txBody>
      </p:sp>
      <p:pic>
        <p:nvPicPr>
          <p:cNvPr id="10" name="Picture 9" descr="F7_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97280"/>
            <a:ext cx="5029200" cy="5029200"/>
          </a:xfrm>
          <a:prstGeom prst="rect">
            <a:avLst/>
          </a:prstGeom>
        </p:spPr>
      </p:pic>
      <p:pic>
        <p:nvPicPr>
          <p:cNvPr id="11" name="Picture 10" descr="tier5_roc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097280"/>
            <a:ext cx="35661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Progressive Architecture Ablation (seed 42)</a:t>
            </a:r>
          </a:p>
          <a:p>
            <a:r>
              <a:rPr sz="4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404040"/>
                </a:solidFill>
              </a:rPr>
              <a:t>Stage 1 — XGBoost (tabular baseline):</a:t>
            </a:r>
          </a:p>
          <a:p>
            <a:r>
              <a:rPr sz="1100" b="0" i="0">
                <a:solidFill>
                  <a:srgbClr val="404040"/>
                </a:solidFill>
              </a:rPr>
              <a:t>  AUC = 0.870 | No temporal or graph modeling</a:t>
            </a:r>
          </a:p>
          <a:p>
            <a:r>
              <a:rPr sz="2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404040"/>
                </a:solidFill>
              </a:rPr>
              <a:t>Stage 2 — CatBoost (best tabular):</a:t>
            </a:r>
          </a:p>
          <a:p>
            <a:r>
              <a:rPr sz="1100" b="0" i="0">
                <a:solidFill>
                  <a:srgbClr val="404040"/>
                </a:solidFill>
              </a:rPr>
              <a:t>  AUC = 0.899  Δ+0.029 | Gradient-boosted trees with categorical features</a:t>
            </a:r>
          </a:p>
          <a:p>
            <a:r>
              <a:rPr sz="2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404040"/>
                </a:solidFill>
              </a:rPr>
              <a:t>Stage 3 — ST-GNN (graph topology only, no expert stream):</a:t>
            </a:r>
          </a:p>
          <a:p>
            <a:r>
              <a:rPr sz="1100" b="0" i="0">
                <a:solidFill>
                  <a:srgbClr val="404040"/>
                </a:solidFill>
              </a:rPr>
              <a:t>  AUC = 0.933  Δ+0.034 | Spatiotemporal graph adds significant value</a:t>
            </a:r>
          </a:p>
          <a:p>
            <a:r>
              <a:rPr sz="2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C05000"/>
                </a:solidFill>
              </a:rPr>
              <a:t>Stage 4 — GNN-CEFAM (GAT + CEFAM cross-attention + expert):</a:t>
            </a:r>
          </a:p>
          <a:p>
            <a:r>
              <a:rPr sz="1100" b="0" i="0">
                <a:solidFill>
                  <a:srgbClr val="C05000"/>
                </a:solidFill>
              </a:rPr>
              <a:t>  AUC = 0.921  Δ−0.012 vs ST-GNN</a:t>
            </a:r>
          </a:p>
          <a:p>
            <a:r>
              <a:rPr sz="1100" b="0" i="1">
                <a:solidFill>
                  <a:srgbClr val="404040"/>
                </a:solidFill>
              </a:rPr>
              <a:t>  Direction 2 degeneracy (seq_len=1) neutralises CEFAM benefit</a:t>
            </a:r>
          </a:p>
          <a:p>
            <a:r>
              <a:rPr sz="2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1F497D"/>
                </a:solidFill>
              </a:rPr>
              <a:t>Stage 5 — BiCA-HS (Transformer + bidirectional cross-attention):</a:t>
            </a:r>
          </a:p>
          <a:p>
            <a:r>
              <a:rPr sz="1100" b="1" i="0">
                <a:solidFill>
                  <a:srgbClr val="1F497D"/>
                </a:solidFill>
              </a:rPr>
              <a:t>  AUC = 0.955  Δ+0.022 vs ST-GNN  |  Δ+0.034 vs GNN-CEFAM</a:t>
            </a:r>
          </a:p>
          <a:p>
            <a:r>
              <a:rPr sz="1100" b="0" i="0">
                <a:solidFill>
                  <a:srgbClr val="404040"/>
                </a:solidFill>
              </a:rPr>
              <a:t>  Processes 200 fixations; both attention directions non-trivial</a:t>
            </a:r>
          </a:p>
          <a:p>
            <a:r>
              <a:rPr sz="2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007000"/>
                </a:solidFill>
              </a:rPr>
              <a:t>Stage 6 — Tier 5 Ensemble (CatBoost + BiCA-HS):</a:t>
            </a:r>
          </a:p>
          <a:p>
            <a:r>
              <a:rPr sz="1100" b="0" i="0">
                <a:solidFill>
                  <a:srgbClr val="404040"/>
                </a:solidFill>
              </a:rPr>
              <a:t>  AUC = 0.959  Δ+0.004 | Not statistically significant (p=0.54)</a:t>
            </a:r>
          </a:p>
          <a:p>
            <a:r>
              <a:rPr sz="400" b="0" i="0">
                <a:solidFill>
                  <a:srgbClr val="404040"/>
                </a:solidFill>
              </a:rPr>
              <a:t/>
            </a:r>
          </a:p>
          <a:p>
            <a:r>
              <a:rPr sz="1200" b="1" i="0">
                <a:solidFill>
                  <a:srgbClr val="007000"/>
                </a:solidFill>
              </a:rPr>
              <a:t>BiCA-HS is the optimal single model: AUC=0.955, Sens=87.5%, Spec=87.1%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ABLATION STUDY — COMPONENT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18 / 26</a:t>
            </a:r>
          </a:p>
        </p:txBody>
      </p:sp>
      <p:pic>
        <p:nvPicPr>
          <p:cNvPr id="8" name="Picture 7" descr="F2_component_con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89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t-SNE vs UMAP on ResNet50 Embeddings (DAV: C5, C6)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Input: 2048-dim ResNet50 patch features per fixation node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Aggregated to subject-level mean → 2048-dim per subject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1F497D"/>
                </a:solidFill>
              </a:rPr>
              <a:t>t-SNE (left): local structure, perplexity=30, 1000 iter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• Partial separation visible in some regions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• Significant overlap → visual patches alone insufficient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600080"/>
                </a:solidFill>
              </a:rPr>
              <a:t>UMAP (right): global structure, n_neighbors=15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• No clear cluster separation SZ vs HC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• Confirms: what you fixate ON is less important than</a:t>
            </a:r>
          </a:p>
          <a:p>
            <a:pPr algn="l"/>
            <a:r>
              <a:rPr sz="1100" b="1" i="0">
                <a:solidFill>
                  <a:srgbClr val="007000"/>
                </a:solidFill>
              </a:rPr>
              <a:t>  HOW you fixate (temporal/spatial dynamics)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→ Motivates Tier 4 deep sequential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t-SNE DIMENSIONALITY REDUCTION (DAV: C5, C6)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19 / 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4389120" cy="4114800"/>
          </a:xfrm>
          <a:prstGeom prst="rect">
            <a:avLst/>
          </a:prstGeom>
        </p:spPr>
      </p:pic>
      <p:pic>
        <p:nvPicPr>
          <p:cNvPr id="9" name="Picture 8" descr="tier4_resnet_u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4389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SHAP Analysis — DAV Curriculum: C7 (XAI)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Method: TreeExplainer on CatBoost (Tier 3)</a:t>
            </a:r>
          </a:p>
          <a:p>
            <a:pPr algn="l"/>
            <a:r>
              <a:rPr sz="1200" b="0" i="1">
                <a:solidFill>
                  <a:srgbClr val="404040"/>
                </a:solidFill>
              </a:rPr>
              <a:t>Computed on OOF validation subjects only (no leakage)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Top predictors (SHAP |mean| ranked):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#1: ΔSoc-Nat fixation count  (delta feature — Tier 2B)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#2: ΔSoc-Nat center bias     (delta feature — Tier 2B)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#3: Social pupil mean        (raw Tier 2A)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#4: ΔMan-Nat saccade amplitude (delta feature)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Interpretation: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SZ: fewer fixations in social vs. natural scenes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SZ: more center-biased gaze (less peripheral exploration)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SZ: lower, more variable pupil response to social content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Validates clinical biomarker design of Tier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EXPLAINABILITY — SHAP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20 / 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89120" cy="3200400"/>
          </a:xfrm>
          <a:prstGeom prst="rect">
            <a:avLst/>
          </a:prstGeom>
        </p:spPr>
      </p:pic>
      <p:pic>
        <p:nvPicPr>
          <p:cNvPr id="9" name="Picture 8" descr="explainability_shap_waterf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89120"/>
            <a:ext cx="43891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Attention Visualization — DAV: C7 XAI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CEFAM Attention (GNN-CEFAM, Direction 1)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attn₁ ∈ ℝ^{1×N_max}: weight of each fixation node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Entropy sparsity loss (λ=0.01) encourages focused attention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HC: sparse attention on socially salient regions (faces, eyes)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SZ: diffuse attention on background regions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Provides fixation-level clinical saliency maps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BiCA-HS Attention (Direction 1: expert → sequence)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Expert embedding queries the 200-fixation sequence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Identifies which FIXATIONS contribute most to SZ/HC decision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Interpretable per-trial saliency (DAV: C7 visualization)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Calibration: ECE=0.031, Brier=0.088 — well-calibrated probabilities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→ Can be used directly as clinical risk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EXPLAINABILITY — ATTENTION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21 / 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89120" cy="2926080"/>
          </a:xfrm>
          <a:prstGeom prst="rect">
            <a:avLst/>
          </a:prstGeom>
        </p:spPr>
      </p:pic>
      <p:pic>
        <p:nvPicPr>
          <p:cNvPr id="9" name="Picture 8" descr="tier4_scanpath_atten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114800"/>
            <a:ext cx="43891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CASE STUDY: SZ SUBJECT #302 vs HC SUBJECT #8 (DAV: C7)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case_study_sz_vs_h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160520"/>
            <a:ext cx="8961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LIMITATIONS &amp; POTENTIAL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/>
            <a:r>
              <a:rPr sz="1500"/>
              <a:t>1. Delta feature contamination risk:</a:t>
            </a:r>
          </a:p>
          <a:p>
            <a:pPr lvl="1"/>
            <a:r>
              <a:rPr sz="1500"/>
              <a:t>→ Delta features computed from training fold; fold-wise normalization applied but warrants close verification</a:t>
            </a:r>
          </a:p>
          <a:p>
            <a:pPr/>
          </a:p>
          <a:p>
            <a:pPr/>
            <a:r>
              <a:rPr sz="1500"/>
              <a:t>2. BiCA-HS d_bio=15 vs config files:</a:t>
            </a:r>
          </a:p>
          <a:p>
            <a:pPr lvl="1"/>
            <a:r>
              <a:rPr sz="1500"/>
              <a:t>→ Some config files may record different d_bio values; confirmed at runtime to use 15 stimulus-level features</a:t>
            </a:r>
          </a:p>
          <a:p>
            <a:pPr/>
          </a:p>
          <a:p>
            <a:pPr/>
            <a:r>
              <a:rPr sz="1500"/>
              <a:t>3. Fold 2 = 1.0 (perfect AUC) phenomenon:</a:t>
            </a:r>
          </a:p>
          <a:p>
            <a:pPr lvl="1"/>
            <a:r>
              <a:rPr sz="1500"/>
              <a:t>→ 40 subjects in Fold 2 may be linearly separable; not an error but should be noted in reporting</a:t>
            </a:r>
          </a:p>
          <a:p>
            <a:pPr lvl="1"/>
            <a:r>
              <a:rPr sz="1500"/>
              <a:t>→ Remaining three folds all &lt;1.0; mean still 0.9549</a:t>
            </a:r>
          </a:p>
          <a:p>
            <a:pPr/>
          </a:p>
          <a:p>
            <a:pPr/>
            <a:r>
              <a:rPr sz="1500"/>
              <a:t>4. Tier 5 AUC is in-sample:</a:t>
            </a:r>
          </a:p>
          <a:p>
            <a:pPr lvl="1"/>
            <a:r>
              <a:rPr sz="1500"/>
              <a:t>→ Cannot be used as primary result; serves as exploratory metric only</a:t>
            </a:r>
          </a:p>
          <a:p>
            <a:pPr lvl="1"/>
            <a:r>
              <a:rPr sz="1500"/>
              <a:t>→ DeLong test confirms no significant improvement over BiCA-HS</a:t>
            </a:r>
          </a:p>
          <a:p>
            <a:pPr/>
          </a:p>
          <a:p>
            <a:pPr/>
            <a:r>
              <a:rPr sz="1500"/>
              <a:t>5. Test set (48 subjects): labels withheld — final test results not yet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All-Model ROC Comparison (left panel)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Tier 3 XGBoost:         AUC = 0.8702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Tier 3 CatBoost:        AUC = 0.8981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Tier 4 GNN-CEFAM:       AUC = 0.9405</a:t>
            </a:r>
          </a:p>
          <a:p>
            <a:pPr algn="l"/>
            <a:r>
              <a:rPr sz="1200" b="1" i="0">
                <a:solidFill>
                  <a:srgbClr val="1F497D"/>
                </a:solidFill>
              </a:rPr>
              <a:t>Tier 4 BiCA-HS:         AUC = 0.9522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Tier 5 Ensemble XGB+CEF: AUC = 0.9336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Tier 5 Cat+BiCA:        AUC = 0.9594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SOTA MSNet ----:        AUC = 0.8854</a:t>
            </a:r>
          </a:p>
          <a:p>
            <a:pPr algn="l"/>
            <a:r>
              <a:rPr sz="1300" b="1" i="0">
                <a:solidFill>
                  <a:srgbClr val="007000"/>
                </a:solidFill>
              </a:rPr>
              <a:t>Gain vs SOTA: ΔAU = +0.074 ✔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Reliability Diagram (right panel — DAV: C1)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Calibration quality (closer to diagonal = better):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CatBoost:  ECE = 0.107 (moderate)</a:t>
            </a:r>
          </a:p>
          <a:p>
            <a:pPr algn="l"/>
            <a:r>
              <a:rPr sz="1200" b="0" i="0">
                <a:solidFill>
                  <a:srgbClr val="C05000"/>
                </a:solidFill>
              </a:rPr>
              <a:t>• BiCA-HS:   ECE = 0.170 (overconfident at extremes)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Ensemble:  ECE = 0.120 (compromise)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000" b="0" i="1">
                <a:solidFill>
                  <a:srgbClr val="404040"/>
                </a:solidFill>
              </a:rPr>
              <a:t>Note: ECE values from seed 42; paper reports post-calibration ECE=0.031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5 — ROC CURVES &amp; PROBABILITY CALIBRATION (DAV: C1)</a:t>
            </a:r>
          </a:p>
        </p:txBody>
      </p:sp>
      <p:pic>
        <p:nvPicPr>
          <p:cNvPr id="5" name="Picture 4" descr="tier5_comprehensive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005840"/>
            <a:ext cx="45720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24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All-Model ROC Comparison (left panel)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Tier 3 XGBoost:         AUC = 0.8702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Tier 3 CatBoost:        AUC = 0.8981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Tier 4 GNN-CEFAM:       AUC = 0.9405</a:t>
            </a:r>
          </a:p>
          <a:p>
            <a:pPr algn="l"/>
            <a:r>
              <a:rPr sz="1200" b="1" i="0">
                <a:solidFill>
                  <a:srgbClr val="1F497D"/>
                </a:solidFill>
              </a:rPr>
              <a:t>Tier 4 BiCA-HS:         AUC = 0.9522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Tier 5 Ensemble XGB+CEF: AUC = 0.9336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Tier 5 Cat+BiCA:        AUC = 0.9594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SOTA MSNet ----:        AUC = 0.8854</a:t>
            </a:r>
          </a:p>
          <a:p>
            <a:pPr algn="l"/>
            <a:r>
              <a:rPr sz="1300" b="1" i="0">
                <a:solidFill>
                  <a:srgbClr val="007000"/>
                </a:solidFill>
              </a:rPr>
              <a:t>Gain vs SOTA: ΔAU = +0.074 ✔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Reliability Diagram (right panel — DAV: C1)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Calibration quality (closer to diagonal = better):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CatBoost:  ECE = 0.107 (moderate)</a:t>
            </a:r>
          </a:p>
          <a:p>
            <a:pPr algn="l"/>
            <a:r>
              <a:rPr sz="1200" b="0" i="0">
                <a:solidFill>
                  <a:srgbClr val="C05000"/>
                </a:solidFill>
              </a:rPr>
              <a:t>• BiCA-HS:   ECE = 0.170 (overconfident at extremes)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Ensemble:  ECE = 0.120 (compromise)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000" b="0" i="1">
                <a:solidFill>
                  <a:srgbClr val="404040"/>
                </a:solidFill>
              </a:rPr>
              <a:t>Note: ECE values from seed 42; paper reports post-calibration ECE=0.031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5 — ROC CURVES &amp; PROBABILITY CALIBRATION (DAV: C1)</a:t>
            </a:r>
          </a:p>
        </p:txBody>
      </p:sp>
      <p:pic>
        <p:nvPicPr>
          <p:cNvPr id="5" name="Picture 4" descr="tier5_comprehensive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005840"/>
            <a:ext cx="45720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/>
            <a:r>
              <a:rPr sz="1400"/>
              <a:t>[1] Song et al. (2025). EMS: Eye Movement-based Schizophrenia Recognition Dataset. arXiv:2502.xxxxx</a:t>
            </a:r>
          </a:p>
          <a:p>
            <a:pPr/>
            <a:r>
              <a:rPr sz="1400"/>
              <a:t>[2] MSNet: Multi-Scale Network for schizophrenia detection from eye movements. AUC=0.8854.</a:t>
            </a:r>
          </a:p>
          <a:p>
            <a:pPr/>
            <a:r>
              <a:rPr sz="1400"/>
              <a:t>[3] Velickovic et al. (2018). Graph Attention Networks. ICLR 2018.</a:t>
            </a:r>
          </a:p>
          <a:p>
            <a:pPr/>
            <a:r>
              <a:rPr sz="1400"/>
              <a:t>[4] Vaswani et al. (2017). Attention is All You Need. NeurIPS 2017.</a:t>
            </a:r>
          </a:p>
          <a:p>
            <a:pPr/>
            <a:r>
              <a:rPr sz="1400"/>
              <a:t>[5] Chen &amp; Guestrin (2016). XGBoost: A Scalable Tree Boosting System. KDD 2016.</a:t>
            </a:r>
          </a:p>
          <a:p>
            <a:pPr/>
            <a:r>
              <a:rPr sz="1400"/>
              <a:t>[6] Prokhorenkova et al. (2018). CatBoost: unbiased boosting with categorical features. NeurIPS 2018.</a:t>
            </a:r>
          </a:p>
          <a:p>
            <a:pPr/>
            <a:r>
              <a:rPr sz="1400"/>
              <a:t>[7] Lundberg &amp; Lee (2017). A unified approach to interpreting model predictions (SHAP). NeurIPS 2017.</a:t>
            </a:r>
          </a:p>
          <a:p>
            <a:pPr/>
            <a:r>
              <a:rPr sz="1400"/>
              <a:t>[8] He et al. (2016). Deep Residual Learning for Image Recognition (ResNet). CVPR 2016.</a:t>
            </a:r>
          </a:p>
          <a:p>
            <a:pPr/>
            <a:r>
              <a:rPr sz="1400"/>
              <a:t>[9] Vickers &amp; Elkin (2006). Decision curve analysis: a novel method for evaluating prediction models. MDM.</a:t>
            </a:r>
          </a:p>
          <a:p>
            <a:pPr/>
            <a:r>
              <a:rPr sz="1400"/>
              <a:t>[10] DeLong et al. (1988). Comparing the areas under two or more correlated receiver operating curves. Biometrics.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 FOR YOUR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Thesis: Eye Movement-Based Schizophrenia Recognition
using Hierarchical Multi-Stream Learning
Defense Academy of Vietnam (DAV) —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26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 FOR YOUR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Thesis: Eye Movement-Based Schizophrenia Recognition
using Hierarchical Multi-Stream Learning
Defense Academy of Vietnam (DAV) —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26 /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STATISTICAL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Bootstrap 95% CI (n=10,000) vs MSNet AUC = 0.8854: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• BiCA-HS:      CI = [0.924, 0.976]  p &lt; 0.001 ✔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• Tier5+BiCA:   CI = [0.935, 0.979]  p &lt; 0.001 ✔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• GNN-CEFAM:    CI = [0.902, 0.939]  p &lt; 0.05  ✔</a:t>
            </a:r>
          </a:p>
          <a:p>
            <a:pPr algn="l"/>
            <a:r>
              <a:rPr sz="1200" b="0" i="0">
                <a:solidFill>
                  <a:srgbClr val="C05000"/>
                </a:solidFill>
              </a:rPr>
              <a:t>• CatBoost:     CI = [0.871, 0.927]  p = 0.28  ✕ (n.s.)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Note: MSNet AUC from different evaluation protocol (48 test subj.)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17320"/>
          <a:ext cx="8778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Seed 42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Seed 123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Seed 456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Conclusion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BiCA-HS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p=0.0002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p=0.0162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p=0.0011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ALL statistically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GNN-CEFAM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p=0.0039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p=0.0010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p=0.0120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ALL statistically 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p≈0.29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p≈0.29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p≈0.29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NOT statistically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2004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DeLong Test (Tier5+BiCA vs BiCA-HS alone):</a:t>
            </a:r>
          </a:p>
          <a:p>
            <a:pPr algn="l"/>
            <a:r>
              <a:rPr sz="1200" b="0" i="0">
                <a:solidFill>
                  <a:srgbClr val="C05000"/>
                </a:solidFill>
              </a:rPr>
              <a:t>Z ≈ 0.6,  p ≈ 0.54  → Ensemble does NOT significantly improve over BiCA-HS</a:t>
            </a:r>
          </a:p>
          <a:p>
            <a:pPr algn="l"/>
            <a:r>
              <a:rPr sz="1200" b="1" i="0">
                <a:solidFill>
                  <a:srgbClr val="1F497D"/>
                </a:solidFill>
              </a:rPr>
              <a:t>→ Conclusion: BiCA-HS alone is statistically sufficient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11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</a:rPr>
              <a:t>Z ≈ 0.6,  p ≈ 0.54  →  Tier 5 does NOT significantly improve over BiCA-HS alone
→ Conclusion: BiCA-HS is the best single model and sufficiently strong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Multi-Seed Stability (seeds 42, 123, 456):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BiCA-HS:    AUC = 0.955 ± 0.004 | ACC = 87.3 ± 1.3%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GNN-CEFAM:  AUC = 0.921 ± 0.006 | ACC = 84.6 ± 1.1%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CatBoost:   AUC = 0.899 ± 0.001 (highly stable)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→ BiCA-HS is both best and stable across random seeds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Stability across 3 Seeds (42, 123, 456)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1F497D"/>
                </a:solidFill>
              </a:rPr>
              <a:t>BiCA-HS per-fold AUC (seed 42):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Fold 0: AUC = 0.914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Fold 1: AUC = 0.958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Fold 2: AUC = 0.995 (peak — easy fold distribution)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Fold 3: AUC = 0.924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Mean = 0.948, σ = 0.031 (fold variability)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1F497D"/>
                </a:solidFill>
              </a:rPr>
              <a:t>Cross-seed summary: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BiCA-HS:    0.955 ± 0.004 — very low seed variance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GNN-CEFAM:  0.921 ± 0.006 — slightly higher variance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  CatBoost:   0.899 ± 0.001 — most stable (deterministic tree)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Fold AUC range of 0.058 is normal for n~40 val subjects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Low seed std (±0.004) confirms reliable training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MULTI-SEED 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04040"/>
                </a:solidFill>
              </a:rPr>
              <a:t>28 / 45</a:t>
            </a:r>
          </a:p>
        </p:txBody>
      </p:sp>
      <p:pic>
        <p:nvPicPr>
          <p:cNvPr id="9" name="Picture 8" descr="F5_fold_st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97280"/>
            <a:ext cx="4389120" cy="3200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89120"/>
            <a:ext cx="43891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XGBoost OOF Performance (Subject-Level, Seed 42)</a:t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AUC = 0.8702  |  Accuracy = 78.1%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Confusion Matrix @ τ = 0.50: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  TP (SZ→SZ): 64  |  FN (SZ→HC): 16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  TN (HC→HC): 61  |  FP (HC→SZ): 19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Sensitivity (Recall):  80.0%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Specificity:           76.2%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PPV (Precision):       77.1%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NPV:                   79.2%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Probability Distribution (right):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HC: strongly bimodal near P(SZ)=0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SZ: strongly bimodal near P(SZ)=1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• Strong bimodal separation despite AUC "only" 0.87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• Confirms good class separability in expert feature space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→ BiCA-HS achieves AUC=0.955: +0.085 over XGBoost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3 — XGBoost OOF EVALUATION: CONFUSION MATRIX (DAV: C1)</a:t>
            </a:r>
          </a:p>
        </p:txBody>
      </p:sp>
      <p:pic>
        <p:nvPicPr>
          <p:cNvPr id="5" name="Picture 4" descr="tier3_oof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097280"/>
            <a:ext cx="4572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XGBoost OOF Predicted P(SZ) Distribution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(DAV C6: visualizing class separation in decision space)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HC (blue) distribution: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Sharp peak near P(SZ) = 0.0 — most HC correctly identified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Small tail extending toward 0.5 (borderline cases)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SZ (red) distribution: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Sharp peak near P(SZ) = 1.0 — most SZ clearly classified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Small overlap with HC in 0.4–0.6 region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Decision Space Analysis (DAV C6):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Strong bimodal separation → high AUC despite "only" 0.87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Only ~15% of subjects fall in ambiguous 0.3–0.7 range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This means the expert feature vector has genuine discriminative power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1F497D"/>
                </a:solidFill>
              </a:rPr>
              <a:t>Compare with BiCA-HS: even fewer subjects in ambiguous zone</a:t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→ Deep learning further sharpens the decision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OOF DECISION SPACE SEPARATION (DAV: C6 — Class Separation)</a:t>
            </a:r>
          </a:p>
        </p:txBody>
      </p:sp>
      <p:pic>
        <p:nvPicPr>
          <p:cNvPr id="5" name="Picture 4" descr="lda_class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3891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30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4 — DECISION THRESHOLD SENSITIVITY: ST-GNN vs BiCA-HS (DAV: C1)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tier4_calibration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069080"/>
            <a:ext cx="8961120" cy="2148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4 — PER-CATEGORY P(SZ) SCORES: 4 MODELS COMPARED (DAV: C1)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069080"/>
            <a:ext cx="8961120" cy="2148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X-axis: CatBoost P(SZ)  |  Y-axis: BiCA-HS P(SZ)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Purple dashed line = Logistic Regression meta-learner boundary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Meta-learner equation:</a:t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2.36 × P_tab + 3.75 × P_deep − 2.90 = 0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→ BiCA-HS weighted ~1.6× higher than CatBoost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Quadrant analysis: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Top-right (both high): 95% SZ → easy cases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Bottom-left (both low): 95% HC → easy cases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Top-left (BiCA high, Cat low): 65% SZ → BiCA wins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Bottom-right (Cat high, BiCA low): mixed → hard cases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Case studies marked:</a:t>
            </a:r>
          </a:p>
          <a:p>
            <a:pPr algn="l"/>
            <a:r>
              <a:rPr sz="1200" b="0" i="0">
                <a:solidFill>
                  <a:srgbClr val="C00000"/>
                </a:solidFill>
              </a:rPr>
              <a:t>SZ #302 ◆: (P_cat≈0.99, P_bica≈0.95) — both agree SZ</a:t>
            </a:r>
          </a:p>
          <a:p>
            <a:pPr algn="l"/>
            <a:r>
              <a:rPr sz="1200" b="0" i="0">
                <a:solidFill>
                  <a:srgbClr val="1F497D"/>
                </a:solidFill>
              </a:rPr>
              <a:t>HC  #8  ◆: (P_cat≈0.01, P_bica≈0.01) — both agree HC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→ Complementarity: models disagree on ~15% of subjects</a:t>
            </a:r>
          </a:p>
          <a:p>
            <a:pPr algn="l"/>
            <a:r>
              <a:rPr sz="1100" b="0" i="0">
                <a:solidFill>
                  <a:srgbClr val="404040"/>
                </a:solidFill>
              </a:rPr>
              <a:t>Ensemble recovers some of these hard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TIER 5 — 2D ENSEMBLE DECISION SPACE (DAV: C1)</a:t>
            </a:r>
          </a:p>
        </p:txBody>
      </p:sp>
      <p:pic>
        <p:nvPicPr>
          <p:cNvPr id="5" name="Picture 4" descr="tier5_decision_space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3891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34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SHAP WATERFALL — INDIVIDUAL PREDICTION EXPLANATION (DAV: C7)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114800"/>
            <a:ext cx="8961120" cy="2148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36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INDIVIDUAL FEATURE PROFILE — SZ #302 vs HC #8 (DAV: C7)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explainability_featur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069080"/>
            <a:ext cx="896112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Decision Space Scatter Plot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X = CatBoost P(SZ)  |  Y = BiCA-HS P(SZ)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F497D"/>
                </a:solidFill>
              </a:rPr>
              <a:t>Quadrant agreement analysis: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Q3 (top-right): Both agree SZ → ~65% of actual SZ subjects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Q1 (bottom-left): Both agree HC → ~55% of actual HC subjects</a:t>
            </a:r>
          </a:p>
          <a:p>
            <a:pPr algn="l"/>
            <a:r>
              <a:rPr sz="1200" b="0" i="0">
                <a:solidFill>
                  <a:srgbClr val="C05000"/>
                </a:solidFill>
              </a:rPr>
              <a:t>Disagreement regions: ~20% of all subjects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Model complementarity visible: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Some SZ subjects: BiCA-HS HIGH, CatBoost LOW (top-left)</a:t>
            </a:r>
          </a:p>
          <a:p>
            <a:pPr algn="l"/>
            <a:r>
              <a:rPr sz="1100" b="0" i="1">
                <a:solidFill>
                  <a:srgbClr val="404040"/>
                </a:solidFill>
              </a:rPr>
              <a:t>  → BiCA-HS captures temporal dynamics missed by tabular model</a:t>
            </a:r>
          </a:p>
          <a:p>
            <a:pPr algn="l"/>
            <a:r>
              <a:rPr sz="1200" b="0" i="0">
                <a:solidFill>
                  <a:srgbClr val="404040"/>
                </a:solidFill>
              </a:rPr>
              <a:t>• Some HC subjects scattered in off-diagonal regions</a:t>
            </a:r>
          </a:p>
          <a:p>
            <a:pPr algn="l"/>
            <a:r>
              <a:rPr sz="5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</a:rPr>
              <a:t>Case studies (diamonds):</a:t>
            </a:r>
          </a:p>
          <a:p>
            <a:pPr algn="l"/>
            <a:r>
              <a:rPr sz="1200" b="0" i="0">
                <a:solidFill>
                  <a:srgbClr val="C00000"/>
                </a:solidFill>
              </a:rPr>
              <a:t>◆ SZ #302: top-right corner — both models confidently SZ</a:t>
            </a:r>
          </a:p>
          <a:p>
            <a:pPr algn="l"/>
            <a:r>
              <a:rPr sz="1200" b="0" i="0">
                <a:solidFill>
                  <a:srgbClr val="1F497D"/>
                </a:solidFill>
              </a:rPr>
              <a:t>◆ HC #8:   bottom-left corner — both models confidently HC</a:t>
            </a:r>
          </a:p>
          <a:p>
            <a:pPr algn="l"/>
            <a:r>
              <a:rPr sz="400" b="0" i="0">
                <a:solidFill>
                  <a:srgbClr val="404040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007000"/>
                </a:solidFill>
              </a:rPr>
              <a:t>→ Ensemble logistic regression leverages this complementarity</a:t>
            </a:r>
          </a:p>
          <a:p>
            <a:pPr algn="l"/>
            <a:r>
              <a:rPr sz="1200" b="0" i="0">
                <a:solidFill>
                  <a:srgbClr val="007000"/>
                </a:solidFill>
              </a:rPr>
              <a:t>Tier 5 AUC = 0.959 &gt; BiCA-HS alone 0.955 (small but consistent)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ENSEMBLE DECISION SPACE: CatBoost × BiCA-HS (DAV: C7)</a:t>
            </a:r>
          </a:p>
        </p:txBody>
      </p:sp>
      <p:pic>
        <p:nvPicPr>
          <p:cNvPr id="5" name="Picture 4" descr="explainability_decision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3891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39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DAV CURRICULUM COVERAGE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Thesis Defense — DAV / HUST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41 / 45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840480"/>
                <a:gridCol w="13716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DAV Requirement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Focus / Deep Learning Techniques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Slide(s)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C1: Evaluation &amp; Thresholds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ST-GNN vs. BiCA-HS comparisons, decision space, probability calibration, ECE/Brier metric tracking.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24, 25, 27, 30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C2: Preprocessing &amp;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Spatial screen-boundary filters, temporal 50ms cutoff, pupil size subject-wise normalization.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10, 11, 12, 14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C3: Feature Engineering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Top 8 discriminative features, contextual category-mean features, cross-category contrastive delta features.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15, 16, 17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C5/C6: Dimension &amp;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t-SNE dimensionality reduction of visual node features, OOF single-model decision space mapping.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20, 22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Arial"/>
                        </a:rPr>
                        <a:t>C7: Interpretability &amp; Case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SHAP beeswarm importance, SHAP waterfall individual explanation, subject-level case study comparisons (SZ vs. HC).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rial"/>
                        </a:rPr>
                        <a:t>36, 38, 39, 40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13</cp:revision>
  <dcterms:created xsi:type="dcterms:W3CDTF">2021-05-28T04:32:29Z</dcterms:created>
  <dcterms:modified xsi:type="dcterms:W3CDTF">2022-12-12T05:09:13Z</dcterms:modified>
</cp:coreProperties>
</file>